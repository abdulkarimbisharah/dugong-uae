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840480" cy="3840480"/>
          </a:xfrm>
          <a:prstGeom prst="ellipse">
            <a:avLst/>
          </a:prstGeom>
          <a:solidFill>
            <a:srgbClr val="12325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0E2A4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58368" y="12344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DUGONG WATCH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58368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Habitat Risk Mapping for Dugong Conservation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3584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Marawah / Bu Tinah Marine Biosphere Reserve  —  Abu Dhabi, UAE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43159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for Humanity 2026  ·  Final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pixels to ranked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turns free satellite imagery into a transparent, ranked map of where dugong seagrass habitat is both valuable and under real pressure.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04088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classification accuracy (balanced Random Forest)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74720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risk hotspots identified (≥ 5 ha)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9904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35624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245352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mean risk inside the dugong core vs. reserve-wide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04088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threat factors combined into one weighted index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9272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64992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774.6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3474720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km² study area, entirely inside the biosphere reserve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9904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35624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6245352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data cost — free Sentinel-2 / Landsat imagery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walk 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55064"/>
            <a:ext cx="457200" cy="457200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647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The problem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89888" y="184708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dugong habitat needs a risk map, and why one doesn’t exist yet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36592" y="141732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550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647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The pipeline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77840" y="184708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five tracks turn imagery into a ranked, auditable output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51460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27523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86207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264261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Classification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89888" y="294436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seagrass from Sentinel-2 with a validated ML model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36592" y="251460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7523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86207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64261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Risk modelling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77840" y="294436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habitat value with five weighted threat factors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61188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95935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373989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Validation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389888" y="404164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checks that the risk output is trustworthy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36592" y="361188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37760" y="3849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95935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77840" y="373989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Impact &amp; limits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5577840" y="404164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enables locally and globally — and what it is not, yet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globally significant population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3,000–3,500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76072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in Abu Dhabi waters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2461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second-largest dugong population on Earth</a:t>
            </a:r>
            <a:pPr indent="0" marL="0">
              <a:buNone/>
            </a:pPr>
            <a:r>
              <a:rPr lang="en-US" sz="13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after Australia — concentrated in the Marawah / Bu Tinah region and recognised by UNESCO as a Man and the Biosphere reserve.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8" name="Shape 6"/>
          <p:cNvSpPr/>
          <p:nvPr/>
        </p:nvSpPr>
        <p:spPr>
          <a:xfrm>
            <a:off x="4864608" y="193852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203911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1819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Vulnerable (IUCN)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40680" y="2112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dugong is the only strictly herbivorous marine mammal, and is listed as Vulnerable to extinction globally.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72491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13" name="Shape 10"/>
          <p:cNvSpPr/>
          <p:nvPr/>
        </p:nvSpPr>
        <p:spPr>
          <a:xfrm>
            <a:off x="4864608" y="297180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307238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2852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UNESCO biosphere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40680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Marawah is the UAE’s first UNESCO Man &amp; Biosphere reserve, and a designated Marine Protected Area.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3758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18" name="Shape 14"/>
          <p:cNvSpPr/>
          <p:nvPr/>
        </p:nvSpPr>
        <p:spPr>
          <a:xfrm>
            <a:off x="4864608" y="400507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410565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Shallow, warm waters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40680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forage in waters under ~5 m deep, in one of the hottest, most rapidly developing seas on Earth.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hangs on one resource: seagrass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feed almost exclusively on seagrass meadows. Protect the seagrass and you protect the dugong; lose it and the population has nowhere to go. That makes seagrass the single most decision-relevant thing to map — and to protect.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7904" y="258775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78892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seagrass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meadows in shallow Gulf waters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63824" y="29032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648456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258775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78892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58184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 the dugong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85616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adult grazes ~30 kg of seagrass daily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153912" y="29032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›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6638544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0" y="2587752"/>
            <a:ext cx="768096" cy="768096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78892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Sustains the population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775704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seagrass → no foraging → no dugongs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measurable pressures on the habitat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512064" cy="51206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development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Dredging and land reclamation directly bury or smother meadows.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572768"/>
            <a:ext cx="512064" cy="512064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Desalination &amp; discharge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4728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Brine and industrial outfall raise salinity and temperature locally.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94360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1572768"/>
            <a:ext cx="512064" cy="512064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476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heat stress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4476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Gulf is among the hottest seas on Earth; heatwaves bleach seagrass.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1897380" y="2990088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98548" y="3191256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420" y="331012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98548" y="3776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 pressure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098548" y="403250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 scarring and groundings damage shallow foraging beds.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594860" y="2990088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96028" y="31912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331012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96028" y="3776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loss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96028" y="403250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seagrass decline between 2019 and 2024 from imagery itself.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no existing tool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173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7E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simply “where is there seagrass,” but 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seagrass both present and under enough pressure that its loss would matter for dugong survival?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it means combining three things that are rarely brought together: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30098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Habitat maps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seagrass exists — but surveys are episodic and expensive to run at scale.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9272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0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330098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96512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over time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38728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 is being lost — rarely tracked consistently across years.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9904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91072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0098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67144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data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pressures act where — scattered across non-standardised sources.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end-to-end, auditable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 </a:t>
            </a:r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over sophistication.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weight is a documented parameter, every threat layer’s provenance is labelled, and the model’s own sensitivity to its assumptions is tested — not assumed.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144" y="227685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4597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203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4944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presence from free Sentinel-2 imagery, trained on official EAD survey polygons.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60904" y="20574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227685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24597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8920" y="2203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752344" y="315468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change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807208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gain and loss between 2019 and 2024 from the same imagery source.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73168" y="20574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76672" y="227685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4597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01184" y="2203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64608" y="315468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risk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919472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habitat value with five weighted threat factors into one 0–1 index.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85432" y="20574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88936" y="227685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245973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13448" y="2203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976872" y="315468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031736" y="35021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interactive map a non-technical stakeholder can use directly.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tracks, each feeding the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26771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GEE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imagery, cloud masking, 14-band feature stack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05740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9456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9456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26771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6771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8600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seagrass mapping, 85.3% accuracy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70332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84048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84048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267712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363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Modelling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3192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threat overlay, 105 ranked hotspots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34924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48640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2267712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955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7784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risk map for stakeholders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99516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13232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13232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668" y="2267712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0547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22376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methodology, impact, limitations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Owner-per-track structure keeps every stage independently reviewable and reproducible.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area and data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774.6 km²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covering the Marawah / Bu Tinah region (lon 52.98–53.32, lat 24.19–24.48), falling entirely inside the Marawah Marine Biosphere Reserve.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7510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75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928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Sentinel-2 Surface Reflectance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53312" y="2176272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Level-2A, cloud-masked (QA60), median-composited per year. 222 scenes built the 2024 composite. 2019 &amp; 2024 compared.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87121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97180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27889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Landsat 8/9 thermal (ST_B10)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353312" y="3072384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surface temperature (Jun–Sep), converted to °C, water-masked so hot dry land can’t skew the thermal signal.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75304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37673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679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6850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EAD habitat vector data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53312" y="3968496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seagrass + 171 non-seagrass training polygons; a separate 118-polygon reference layer; a 1,954-polygon regional context layer.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free and public — no proprietary or purchased imagery anywhere in the pipeline.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bands to a 14-feature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annual composite is reduced to 14 predictor features per 10 m pixel — ten raw Sentinel-2 bands plus four spectral indices that sharpen the water–vegetation distinction seagrass classification depends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raw Sentinel-2 bands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(blue)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(green)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(red)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9260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(red edge)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(red edge)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(red edge)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(NIR)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657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B8A (narrow NIR)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 (SWIR)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4023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(SWIR)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derived spectral indices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25786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578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vigour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NDWI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open-water index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MNDWI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water index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8953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bare-soil index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Forest, trained on survey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465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55448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sampling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44752" y="1865376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points drawn inside training polygons (not one per polygon, since sizes vary up to ~61 km²), each with its 14 band values.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736592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4650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32704" y="155448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Forest, 100 trees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32704" y="1865376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ee.Classifier.smileRandomForest, fixed seed for reproducibility, trained on an 80/20 train/test split.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48640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" y="32004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192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3127248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vs. original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44752" y="3438144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class-balanced model (equal seagrass / non-seagrass samples) beat the imbalanced one on every metric — and is used downstream.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736592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56048" y="32004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192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32704" y="3127248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two years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32704" y="3438144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trained classifier is applied to 2019 and 2024, so any difference reflects real change, not model drift.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 accuracy, confusion shown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accuracy, class-balanced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633472" cy="1051560"/>
          </a:xfrm>
          <a:prstGeom prst="roundRect">
            <a:avLst>
              <a:gd name="adj" fmla="val 5217"/>
            </a:avLst>
          </a:prstGeom>
          <a:solidFill>
            <a:srgbClr val="E3F2E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Cohen’s κ = 0.696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agreement, up from 0.623 for the imbalanced model</a:t>
            </a:r>
            <a:endParaRPr lang="en-US" sz="1050" dirty="0"/>
          </a:p>
        </p:txBody>
      </p:sp>
      <p:pic>
        <p:nvPicPr>
          <p:cNvPr id="8" name="Image 0" descr="C:\Users\Abdul\Documents\University\DUBAI\dugong-uae\D_dashboard\figures\B4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632127"/>
            <a:ext cx="5074920" cy="2679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metric in the published range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accuracy, kappa, and producer’s / user’s accuracy for both classes — the balanced model (orange) sits inside the 73–87% range reported for comparable satellite seagrass methods.</a:t>
            </a:r>
            <a:endParaRPr lang="en-US" sz="1250" dirty="0"/>
          </a:p>
        </p:txBody>
      </p:sp>
      <p:pic>
        <p:nvPicPr>
          <p:cNvPr id="5" name="Image 0" descr="C:\Users\Abdul\Documents\University\DUBAI\dugong-uae\D_dashboard\figures\B4_accurac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734" y="1828800"/>
            <a:ext cx="6110531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actually looks at</a:t>
            </a:r>
            <a:endParaRPr lang="en-US" sz="2600" dirty="0"/>
          </a:p>
        </p:txBody>
      </p:sp>
      <p:pic>
        <p:nvPicPr>
          <p:cNvPr id="4" name="Image 0" descr="C:\Users\Abdul\Documents\University\DUBAI\dugong-uae\D_dashboard\figures\B5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957083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0" y="15544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0352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0" y="2121408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 and vegetation-index bands (NDWI, BSI, MNDWI, NDVI) rank among the top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alongside the raw shortwave-infrared band B12.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matches the physics: seagrass discrimination depends on both spectral water characteristics and a vegetation signal, so the derived indices earning their place is a sign the model is learning the right thing.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CHANGE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Seagrass change, 2019 → 2024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one classifier to both years and differencing the results yields four change categories — the “loss” layer becomes the single most heavily weighted threat factor in the risk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296" y="2331720"/>
            <a:ext cx="585216" cy="5852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non-seagrass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/ unvegetated bottom in both years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60904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2331720"/>
            <a:ext cx="585216" cy="585216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11" name="Text 9"/>
          <p:cNvSpPr/>
          <p:nvPr/>
        </p:nvSpPr>
        <p:spPr>
          <a:xfrm>
            <a:off x="2752344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seagrass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meadow — the reliable 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9824" y="2331720"/>
            <a:ext cx="585216" cy="585216"/>
          </a:xfrm>
          <a:prstGeom prst="ellipse">
            <a:avLst/>
          </a:prstGeom>
          <a:solidFill>
            <a:srgbClr val="2C7BB6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01184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seagrass detected by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85432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62088" y="2331720"/>
            <a:ext cx="585216" cy="585216"/>
          </a:xfrm>
          <a:prstGeom prst="ellipse">
            <a:avLst/>
          </a:prstGeom>
          <a:solidFill>
            <a:srgbClr val="D7191C"/>
          </a:solidFill>
          <a:ln/>
        </p:spPr>
      </p:sp>
      <p:sp>
        <p:nvSpPr>
          <p:cNvPr id="19" name="Text 17"/>
          <p:cNvSpPr/>
          <p:nvPr/>
        </p:nvSpPr>
        <p:spPr>
          <a:xfrm>
            <a:off x="6976872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13448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present in 2019, gone by 2024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loss is measured, not assumed, hotspots dominated by “loss” are flagged transparently for read-alongside with classifier accuracy.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RISK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equation, in one 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5544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34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</a:t>
            </a:r>
            <a:pPr algn="ctr" indent="0" marL="0">
              <a:buNone/>
            </a:pPr>
            <a:r>
              <a:rPr lang="en-US" sz="3400" b="1" dirty="0">
                <a:solidFill>
                  <a:srgbClr val="F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exposure × consequence structure (after Halpern et al. 2008 / InVEST HRA): a location scores high only when valuable habitat and real pressure coincide.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703320" cy="1051560"/>
          </a:xfrm>
          <a:prstGeom prst="roundRect">
            <a:avLst>
              <a:gd name="adj" fmla="val 6087"/>
            </a:avLst>
          </a:prstGeom>
          <a:solidFill>
            <a:srgbClr val="123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3675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7856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 (what’s at stake)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71600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presence, weighted up to ~1.7× where dugong use is highest.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3383280"/>
            <a:ext cx="3703320" cy="1051560"/>
          </a:xfrm>
          <a:prstGeom prst="roundRect">
            <a:avLst>
              <a:gd name="adj" fmla="val 6087"/>
            </a:avLst>
          </a:prstGeom>
          <a:solidFill>
            <a:srgbClr val="12325A"/>
          </a:solidFill>
          <a:ln/>
        </p:spPr>
      </p:sp>
      <p:sp>
        <p:nvSpPr>
          <p:cNvPr id="13" name="Shape 10"/>
          <p:cNvSpPr/>
          <p:nvPr/>
        </p:nvSpPr>
        <p:spPr>
          <a:xfrm>
            <a:off x="5111496" y="36758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37856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 (what acts on it)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15000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of five normalised 0–1 pressure factors.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VALUE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seagrass is equally at stake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4F9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 =  SeagrassPresence  ×  (0.6  +  0.4 × DugongUse)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23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86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 from classification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58775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SeagrassPresence comes directly from the 2024 Random Forest output — no seagrass, no value.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0080" y="314553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644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127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Dugong use, by distance-decay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342900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0–1 surface built outward from documented high-density anchors: Marawah core, Bu Tinah, central foraging grounds.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9867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0565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9684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Weighted, but never zero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427024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in a known dugong core is weighted up to ~1.7× more than at the reserve’s edge — yet every pixel keeps some value, since the whole AOI is prime habitat.</a:t>
            </a:r>
            <a:endParaRPr lang="en-US" sz="1080" dirty="0"/>
          </a:p>
        </p:txBody>
      </p:sp>
      <p:sp>
        <p:nvSpPr>
          <p:cNvPr id="18" name="Text 1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THREAT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weighted, justified 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is normalised 0–1; distance factors use exp(−distance/λ) with factor-specific decay lengths (λ ≈ 3–5 km). Every weight is documented in RISK_METHODOLOGY.md.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8046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Threat factor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Measured 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Weight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seagrass loss (2019→2024)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Smoothed density of “loss” change pixels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19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0.30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development / dredging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mapped development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stress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Landsat summer surface temperature, water-masked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Desalination / industrial discharge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mapped discharge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/ navigation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ports, landings, routes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carries the highest weight because measured decline is the strongest evidence of habitat already failing.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 ranked hotspots, not a generic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36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hotspots ≥ 5 ha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035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18.5–7,049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352044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 range across hotspots; dominant threats: vessels, development, loss</a:t>
            </a:r>
            <a:endParaRPr lang="en-US" sz="1000" dirty="0"/>
          </a:p>
        </p:txBody>
      </p:sp>
      <p:pic>
        <p:nvPicPr>
          <p:cNvPr id="10" name="Image 0" descr="C:\Users\Abdul\Documents\University\DUBAI\dugong-uae\D_dashboard\figures\C4_hotspot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015" y="1440180"/>
            <a:ext cx="5021410" cy="3063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risk model trustworthy?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classifier accuracy, we ran three independent tests of whether the risk output is real signal — not an artefact of the parameters we chose.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0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Face validity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mean risk fall with distance from a real discharge point, as the model’s own construction should produce?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~0.26 near, ~0.09–0.14 far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319272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8728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2402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15384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Zonal comparison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38728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mean risk inside the documented dugong core meaningfully higher than the reserve-wide average?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538728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18" name="Text 14"/>
          <p:cNvSpPr/>
          <p:nvPr/>
        </p:nvSpPr>
        <p:spPr>
          <a:xfrm>
            <a:off x="3593592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3× higher in the core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089904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24028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86016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Weight sensitivity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09360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flagged hotspots survive perturbing each of the five weights by ±10%?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309360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25" name="Text 20"/>
          <p:cNvSpPr/>
          <p:nvPr/>
        </p:nvSpPr>
        <p:spPr>
          <a:xfrm>
            <a:off x="6364224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≤ 3% change in high-risk area</a:t>
            </a:r>
            <a:endParaRPr lang="en-US" sz="980" dirty="0"/>
          </a:p>
        </p:txBody>
      </p:sp>
      <p:sp>
        <p:nvSpPr>
          <p:cNvPr id="26" name="Text 2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·  ZONAL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targets where dugongs actually 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risk inside the documented dugong 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30352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risk across the whole study area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423160"/>
            <a:ext cx="914400" cy="731520"/>
          </a:xfrm>
          <a:prstGeom prst="ellipse">
            <a:avLst/>
          </a:prstGeom>
          <a:solidFill>
            <a:srgbClr val="D7191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result a correct model should produce: risk concentrates where valuable habitat and real pressure meet — not spread uniformly, and not at random.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·  WEIGHT SENSITIVITY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hotspots survive stress-testing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five weights was perturbed ±0.10 (re-normalised to sum to 1.0) and the high-risk area recomputed. No perturbation moved it by more than 3% off the 10,681.5 ha baseline.</a:t>
            </a:r>
            <a:endParaRPr lang="en-US" sz="1250" dirty="0"/>
          </a:p>
        </p:txBody>
      </p:sp>
      <p:pic>
        <p:nvPicPr>
          <p:cNvPr id="5" name="Image 0" descr="C:\Users\Abdul\Documents\University\DUBAI\dugong-uae\D_dashboard\figures\C5_weight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754880" cy="28435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1920240"/>
            <a:ext cx="2971800" cy="2606040"/>
          </a:xfrm>
          <a:prstGeom prst="roundRect">
            <a:avLst>
              <a:gd name="adj" fmla="val 280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852160" y="2487168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3%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high-risk area for any single-weight ±10% shift.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but equally defensible weighting would produce a similar ranking. The output is robust — not an artefact of one arbitrary set of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  ·  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for decision-makers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0" cy="3063240"/>
          </a:xfrm>
          <a:prstGeom prst="roundRect">
            <a:avLst>
              <a:gd name="adj" fmla="val 238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risk 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657600" cy="2240280"/>
          </a:xfrm>
          <a:prstGeom prst="roundRect">
            <a:avLst>
              <a:gd name="adj" fmla="val 2449"/>
            </a:avLst>
          </a:prstGeom>
          <a:solidFill>
            <a:srgbClr val="133A5C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148840"/>
            <a:ext cx="256032" cy="256032"/>
          </a:xfrm>
          <a:prstGeom prst="rect">
            <a:avLst/>
          </a:prstGeom>
          <a:solidFill>
            <a:srgbClr val="2C7BB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30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7552" y="2514600"/>
            <a:ext cx="256032" cy="256032"/>
          </a:xfrm>
          <a:prstGeom prst="rect">
            <a:avLst/>
          </a:prstGeom>
          <a:solidFill>
            <a:srgbClr val="ABD9E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4963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7552" y="2880360"/>
            <a:ext cx="256032" cy="256032"/>
          </a:xfrm>
          <a:prstGeom prst="rect">
            <a:avLst/>
          </a:prstGeom>
          <a:solidFill>
            <a:srgbClr val="FFFFB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862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" y="3246120"/>
            <a:ext cx="256032" cy="256032"/>
          </a:xfrm>
          <a:prstGeom prst="rect">
            <a:avLst/>
          </a:prstGeom>
          <a:solidFill>
            <a:srgbClr val="FDAE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227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7552" y="3611880"/>
            <a:ext cx="256032" cy="256032"/>
          </a:xfrm>
          <a:prstGeom prst="rect">
            <a:avLst/>
          </a:prstGeom>
          <a:solidFill>
            <a:srgbClr val="D7191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593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4173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536192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577840" y="1417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hotspots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77840" y="17282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risk map with click-through detail on each ranked patch.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937760" y="24597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57860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77840" y="2459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Toggleable threat layers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577840" y="2770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areas, dugong cores, discharge, development, vessels.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937760" y="35021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3621024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577840" y="3502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 analysis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577840" y="38130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index and threat-pressure surfaces underneath.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beats a survey or generic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813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habitat survey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3240" y="137160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0" y="14630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monitoring baseline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Re-runs on new imagery at ~zero marginal cost — tracks whether hotspots stabilise or worsen.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2257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seagrass extent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212848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3042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conditioned on dugong use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Shows where loss would matter for dugongs, not just where seagrass happens to be.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638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environmental index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3054096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1455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× threat, both explicit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scores high where habitat value and real pressure coincide — and every weight is documented.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050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3895344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74720" y="39867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&amp; stress-tested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Three validation checks; every weight perturbed ±10%; all code and data reproducible.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LOCAL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Abu Dhabi: an evidence-based start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830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6362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Prioritised action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745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105 concrete locations by habitat value × real pressure — directly informs where a boundary review, dredging permit condition, or monitoring buoy should go first.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249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8346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1518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baseline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292608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free, continuously updated imagery — re-run in any future year at near-zero cost to track whether hotspots are stabilising or worsening.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764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862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6674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Serves the reserve’s mandate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9776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3× zonal finding gives Marawah’s UNESCO / MPA evidence-based mandate a concrete, quantified starting point — not just “the core matters.”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REGIONAL &amp; GLOBAL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model, not a one-off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exposure × consequence structure, the threat factors, and the validation approach are not specific to seagrass or the Arabian Gulf.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Transferable structure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8096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habitat-value layer with a weighted, distance-decayed threat overlay, validate against ground truth, stress-test the weights — applies to any satellite-visible, single-species habitat.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682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species &amp; regions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8728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elsewhere in the Indo-Pacific, manatee seagrass in the Americas, or any coastal species tied to a mappable habitat type.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9360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36829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tools lower the barrier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09360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/ Landsat via Earth Engine + open-source Python. The barrier to adoption is know-how, not cost or licensing — key for lower-resource programmes.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— and what it isn’t, yet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limitations section is part of the design philosophy, not a formality. Stated plainly: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928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856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data is partly schematic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229514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Built-infrastructure coordinates are real and verified; reserve boundary, dugong-density surface, and vessel routes are documented approximations pending official EAD GIS layers.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736592" y="169164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8928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856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known training-data gap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56048" y="229514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pagination bug truncated non-seagrass training polygons to 171 of the true 319. The download code is fixed; results shown were trained on the smaller set — retraining is a known next step.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548640" y="317296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741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333756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risk, not absolute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8096" y="377647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ranks locations within the study area against each other; it is not a calibrated probability of habitat loss.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4736592" y="317296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7413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33756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field validation yet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56048" y="377647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validation shows the method behaves sensibly; it does not confirm any individual hotspot’s on-the-ground condition. That needs a site visit or independent survey.</a:t>
            </a:r>
            <a:endParaRPr lang="en-US" sz="980" dirty="0"/>
          </a:p>
        </p:txBody>
      </p:sp>
      <p:sp>
        <p:nvSpPr>
          <p:cNvPr id="21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deployed tool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459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647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50208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44752" y="15910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official EAD GIS layers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44752" y="2048256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schematic boundaries and surfaces with authoritative data — sharpens output without changing the method.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56048" y="16459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647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632704" y="15910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on the full 319-polygon set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632704" y="2048256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fixed download and retrain the classifier to close the known training-data gap.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32186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375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50208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444752" y="31638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Field-validate top hotspots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44752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 sample of ranked hotspots against recent survey data or a site visit.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6592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56048" y="32186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375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3816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632704" y="31638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Co-design with the agencies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632704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dashboard in front of the regulators and researchers who’d use it, and act on what “actionable” means to them.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651760"/>
            <a:ext cx="3840480" cy="3840480"/>
          </a:xfrm>
          <a:prstGeom prst="ellipse">
            <a:avLst/>
          </a:prstGeom>
          <a:solidFill>
            <a:srgbClr val="0E2A4C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280160"/>
            <a:ext cx="3291840" cy="3291840"/>
          </a:xfrm>
          <a:prstGeom prst="ellipse">
            <a:avLst/>
          </a:prstGeom>
          <a:solidFill>
            <a:srgbClr val="1232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pixels to protection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2880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evidence-based way to rank where dugong conservation effort matters most — </a:t>
            </a:r>
            <a:pPr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 satellite data and open, auditable methodology.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43159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  ·  Marawah / Bu Tinah, Abu Dhabi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Dugong Watch — Seagrass Habitat Risk Mapping</dc:title>
  <dc:subject>PptxGenJS Presentation</dc:subject>
  <dc:creator>Dugong Watch Team</dc:creator>
  <cp:lastModifiedBy>Dugong Watch Team</cp:lastModifiedBy>
  <cp:revision>1</cp:revision>
  <dcterms:created xsi:type="dcterms:W3CDTF">2026-07-05T08:27:09Z</dcterms:created>
  <dcterms:modified xsi:type="dcterms:W3CDTF">2026-07-05T08:27:09Z</dcterms:modified>
</cp:coreProperties>
</file>