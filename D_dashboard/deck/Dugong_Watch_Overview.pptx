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7772400" y="457200"/>
            <a:ext cx="1005840" cy="10058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DUGONG WATCH</a:t>
            </a:r>
            <a:endParaRPr lang="en-US" sz="4800" dirty="0"/>
          </a:p>
        </p:txBody>
      </p:sp>
      <p:sp>
        <p:nvSpPr>
          <p:cNvPr id="4" name="Text 1"/>
          <p:cNvSpPr/>
          <p:nvPr/>
        </p:nvSpPr>
        <p:spPr>
          <a:xfrm>
            <a:off x="658368" y="27889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BF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Seagrass Habitat Risk Mapping for Dugong Conservation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658368" y="32918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Marawah / Bu Tinah Marine Biosphere Reserve — Abu Dhabi, UAE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58368" y="44805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7C9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Prototypes for Humanity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matters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640080" cy="640080"/>
          </a:xfrm>
          <a:prstGeom prst="ellipse">
            <a:avLst/>
          </a:prstGeom>
          <a:solidFill>
            <a:srgbClr val="E3EEF4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08760"/>
            <a:ext cx="365760" cy="365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508760" y="1353312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globally significant population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1508760" y="1700784"/>
            <a:ext cx="7040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~3,000-3,500 dugongs live in Abu Dhabi waters - the 2nd largest population on Earth, after Australia.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40080" y="2514600"/>
            <a:ext cx="640080" cy="640080"/>
          </a:xfrm>
          <a:prstGeom prst="ellipse">
            <a:avLst/>
          </a:prstGeom>
          <a:solidFill>
            <a:srgbClr val="E1EEF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651760"/>
            <a:ext cx="365760" cy="3657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508760" y="2496312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Almost entirely seagrass-dependent</a:t>
            </a:r>
            <a:endParaRPr lang="en-US" sz="1700" dirty="0"/>
          </a:p>
        </p:txBody>
      </p:sp>
      <p:sp>
        <p:nvSpPr>
          <p:cNvPr id="10" name="Text 6"/>
          <p:cNvSpPr/>
          <p:nvPr/>
        </p:nvSpPr>
        <p:spPr>
          <a:xfrm>
            <a:off x="1508760" y="2843784"/>
            <a:ext cx="7040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Dugongs feed almost exclusively on seagrass meadows, mainly Halodule uninervis, in shallow (&lt;5m) Gulf waters.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640080" y="3657600"/>
            <a:ext cx="640080" cy="640080"/>
          </a:xfrm>
          <a:prstGeom prst="ellipse">
            <a:avLst/>
          </a:prstGeom>
          <a:solidFill>
            <a:srgbClr val="FBE7E7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794760"/>
            <a:ext cx="365760" cy="3657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508760" y="3639312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That habitat is under real pressure</a:t>
            </a:r>
            <a:endParaRPr lang="en-US" sz="1700" dirty="0"/>
          </a:p>
        </p:txBody>
      </p:sp>
      <p:sp>
        <p:nvSpPr>
          <p:cNvPr id="14" name="Text 9"/>
          <p:cNvSpPr/>
          <p:nvPr/>
        </p:nvSpPr>
        <p:spPr>
          <a:xfrm>
            <a:off x="1508760" y="3986784"/>
            <a:ext cx="7040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Coastal development, dredging, desalination discharge, marine heat, and vessel traffic are all eroding it.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five-stage pipeline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track hands its output to the next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508760" cy="2606040"/>
          </a:xfrm>
          <a:prstGeom prst="roundRect">
            <a:avLst>
              <a:gd name="adj" fmla="val 4848"/>
            </a:avLst>
          </a:prstGeom>
          <a:solidFill>
            <a:srgbClr val="065A82"/>
          </a:solidFill>
          <a:ln/>
          <a:effectLst>
            <a:outerShdw sx="100000" sy="100000" kx="0" ky="0" algn="bl" rotWithShape="0" blurRad="76200" dist="25400" dir="27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709928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FC1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5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6988" y="2103120"/>
            <a:ext cx="512064" cy="51206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21792" y="2743200"/>
            <a:ext cx="1362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&amp; GEE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" y="3246120"/>
            <a:ext cx="1325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D7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Sentinel-2 imagery, cloud masking, feature stack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2057400" y="2674620"/>
            <a:ext cx="137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75569"/>
                </a:solidFill>
              </a:rPr>
              <a:t>›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2194560" y="1600200"/>
            <a:ext cx="1508760" cy="2606040"/>
          </a:xfrm>
          <a:prstGeom prst="roundRect">
            <a:avLst>
              <a:gd name="adj" fmla="val 4848"/>
            </a:avLst>
          </a:prstGeom>
          <a:solidFill>
            <a:srgbClr val="065A82"/>
          </a:solidFill>
          <a:ln/>
          <a:effectLst>
            <a:outerShdw sx="100000" sy="100000" kx="0" ky="0" algn="bl" rotWithShape="0" blurRad="76200" dist="25400" dir="2700000">
              <a:srgbClr val="000000">
                <a:alpha val="1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2194560" y="1709928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FC1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15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2908" y="2103120"/>
            <a:ext cx="512064" cy="51206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267712" y="2743200"/>
            <a:ext cx="1362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ML Classification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2286000" y="3246120"/>
            <a:ext cx="1325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D7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seagrass mapping, 85.3% accuracy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3703320" y="2674620"/>
            <a:ext cx="137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75569"/>
                </a:solidFill>
              </a:rPr>
              <a:t>›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3840480" y="1600200"/>
            <a:ext cx="1508760" cy="2606040"/>
          </a:xfrm>
          <a:prstGeom prst="roundRect">
            <a:avLst>
              <a:gd name="adj" fmla="val 4848"/>
            </a:avLst>
          </a:prstGeom>
          <a:solidFill>
            <a:srgbClr val="065A82"/>
          </a:solidFill>
          <a:ln/>
          <a:effectLst>
            <a:outerShdw sx="100000" sy="100000" kx="0" ky="0" algn="bl" rotWithShape="0" blurRad="76200" dist="25400" dir="2700000">
              <a:srgbClr val="000000">
                <a:alpha val="15000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3840480" y="1709928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FC1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500" dirty="0"/>
          </a:p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8828" y="2103120"/>
            <a:ext cx="512064" cy="51206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3913632" y="2743200"/>
            <a:ext cx="1362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Modelling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3931920" y="3246120"/>
            <a:ext cx="1325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D7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threat overlay, ranked hotspots</a:t>
            </a:r>
            <a:endParaRPr lang="en-US" sz="950" dirty="0"/>
          </a:p>
        </p:txBody>
      </p:sp>
      <p:sp>
        <p:nvSpPr>
          <p:cNvPr id="21" name="Text 16"/>
          <p:cNvSpPr/>
          <p:nvPr/>
        </p:nvSpPr>
        <p:spPr>
          <a:xfrm>
            <a:off x="5349240" y="2674620"/>
            <a:ext cx="137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75569"/>
                </a:solidFill>
              </a:rPr>
              <a:t>›</a:t>
            </a:r>
            <a:endParaRPr lang="en-US" sz="1600" dirty="0"/>
          </a:p>
        </p:txBody>
      </p:sp>
      <p:sp>
        <p:nvSpPr>
          <p:cNvPr id="22" name="Shape 17"/>
          <p:cNvSpPr/>
          <p:nvPr/>
        </p:nvSpPr>
        <p:spPr>
          <a:xfrm>
            <a:off x="5486400" y="1600200"/>
            <a:ext cx="1508760" cy="2606040"/>
          </a:xfrm>
          <a:prstGeom prst="roundRect">
            <a:avLst>
              <a:gd name="adj" fmla="val 4848"/>
            </a:avLst>
          </a:prstGeom>
          <a:solidFill>
            <a:srgbClr val="065A82"/>
          </a:solidFill>
          <a:ln/>
          <a:effectLst>
            <a:outerShdw sx="100000" sy="100000" kx="0" ky="0" algn="bl" rotWithShape="0" blurRad="76200" dist="25400" dir="2700000">
              <a:srgbClr val="000000">
                <a:alpha val="15000"/>
              </a:srgbClr>
            </a:outerShdw>
          </a:effectLst>
        </p:spPr>
      </p:sp>
      <p:sp>
        <p:nvSpPr>
          <p:cNvPr id="23" name="Text 18"/>
          <p:cNvSpPr/>
          <p:nvPr/>
        </p:nvSpPr>
        <p:spPr>
          <a:xfrm>
            <a:off x="5486400" y="1709928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FC1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1500" dirty="0"/>
          </a:p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4748" y="2103120"/>
            <a:ext cx="512064" cy="512064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5559552" y="2743200"/>
            <a:ext cx="1362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</a:t>
            </a:r>
            <a:endParaRPr lang="en-US" sz="1300" dirty="0"/>
          </a:p>
        </p:txBody>
      </p:sp>
      <p:sp>
        <p:nvSpPr>
          <p:cNvPr id="26" name="Text 20"/>
          <p:cNvSpPr/>
          <p:nvPr/>
        </p:nvSpPr>
        <p:spPr>
          <a:xfrm>
            <a:off x="5577840" y="3246120"/>
            <a:ext cx="1325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D7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risk map for stakeholders</a:t>
            </a:r>
            <a:endParaRPr lang="en-US" sz="950" dirty="0"/>
          </a:p>
        </p:txBody>
      </p:sp>
      <p:sp>
        <p:nvSpPr>
          <p:cNvPr id="27" name="Text 21"/>
          <p:cNvSpPr/>
          <p:nvPr/>
        </p:nvSpPr>
        <p:spPr>
          <a:xfrm>
            <a:off x="6995160" y="2674620"/>
            <a:ext cx="137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75569"/>
                </a:solidFill>
              </a:rPr>
              <a:t>›</a:t>
            </a:r>
            <a:endParaRPr lang="en-US" sz="1600" dirty="0"/>
          </a:p>
        </p:txBody>
      </p:sp>
      <p:sp>
        <p:nvSpPr>
          <p:cNvPr id="28" name="Shape 22"/>
          <p:cNvSpPr/>
          <p:nvPr/>
        </p:nvSpPr>
        <p:spPr>
          <a:xfrm>
            <a:off x="7132320" y="1600200"/>
            <a:ext cx="1508760" cy="2606040"/>
          </a:xfrm>
          <a:prstGeom prst="roundRect">
            <a:avLst>
              <a:gd name="adj" fmla="val 4848"/>
            </a:avLst>
          </a:prstGeom>
          <a:solidFill>
            <a:srgbClr val="065A82"/>
          </a:solidFill>
          <a:ln/>
          <a:effectLst>
            <a:outerShdw sx="100000" sy="100000" kx="0" ky="0" algn="bl" rotWithShape="0" blurRad="76200" dist="25400" dir="2700000">
              <a:srgbClr val="000000">
                <a:alpha val="15000"/>
              </a:srgbClr>
            </a:outerShdw>
          </a:effectLst>
        </p:spPr>
      </p:sp>
      <p:sp>
        <p:nvSpPr>
          <p:cNvPr id="29" name="Text 23"/>
          <p:cNvSpPr/>
          <p:nvPr/>
        </p:nvSpPr>
        <p:spPr>
          <a:xfrm>
            <a:off x="7132320" y="1709928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FC1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</a:t>
            </a:r>
            <a:endParaRPr lang="en-US" sz="1500" dirty="0"/>
          </a:p>
        </p:txBody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30668" y="2103120"/>
            <a:ext cx="512064" cy="512064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7205472" y="2743200"/>
            <a:ext cx="1362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 &amp; Submission</a:t>
            </a:r>
            <a:endParaRPr lang="en-US" sz="1300" dirty="0"/>
          </a:p>
        </p:txBody>
      </p:sp>
      <p:sp>
        <p:nvSpPr>
          <p:cNvPr id="32" name="Text 25"/>
          <p:cNvSpPr/>
          <p:nvPr/>
        </p:nvSpPr>
        <p:spPr>
          <a:xfrm>
            <a:off x="7223760" y="3246120"/>
            <a:ext cx="1325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D7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Findings, methodology, impact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 B — classifying seagrass from space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85.3%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548640" y="2176272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accuracy, class-balanced Random Forest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788920"/>
            <a:ext cx="2834640" cy="822960"/>
          </a:xfrm>
          <a:prstGeom prst="roundRect">
            <a:avLst>
              <a:gd name="adj" fmla="val 6667"/>
            </a:avLst>
          </a:prstGeom>
          <a:solidFill>
            <a:srgbClr val="E3F2EC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88036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the </a:t>
            </a:r>
            <a:pPr indent="0" marL="0">
              <a:buNone/>
            </a:pPr>
            <a:r>
              <a:rPr lang="en-US" sz="1150" b="1" dirty="0">
                <a:solidFill>
                  <a:srgbClr val="1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73-87%</a:t>
            </a:r>
            <a:pPr indent="0" marL="0">
              <a:buNone/>
            </a:pPr>
            <a:r>
              <a:rPr lang="en-US" sz="1150" dirty="0">
                <a:solidFill>
                  <a:srgbClr val="1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published target range for this method</a:t>
            </a:r>
            <a:endParaRPr lang="en-US" sz="1150" dirty="0"/>
          </a:p>
        </p:txBody>
      </p:sp>
      <p:pic>
        <p:nvPicPr>
          <p:cNvPr id="7" name="Image 0" descr="C:\Users\Abdul\Documents\University\DUBAI\dugong-uae\D_dashboard\figures\B4_confusion_matric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03320" y="1554480"/>
            <a:ext cx="4892040" cy="25831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 C — where is habitat most at risk?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= Value × Threat</a:t>
            </a:r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seagrass presence weighted by dugong use, times a weighted overlay of 5 real threat factors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627632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719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105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85800" y="224028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risk hotspots identified (≥ 5 ha)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301752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48640" y="3136392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719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3x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85800" y="374904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mean risk inside the dugong core vs. the whole reserve</a:t>
            </a:r>
            <a:endParaRPr lang="en-US" sz="1100" dirty="0"/>
          </a:p>
        </p:txBody>
      </p:sp>
      <p:pic>
        <p:nvPicPr>
          <p:cNvPr id="10" name="Image 0" descr="C:\Users\Abdul\Documents\University\DUBAI\dugong-uae\D_dashboard\figures\C4_hotspot_rank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00984" y="1417320"/>
            <a:ext cx="5095951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risk model trustworthy?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stress-tested it: every one of the 5 weights was perturbed ±10% and the hotspots were re-ranked.</a:t>
            </a:r>
            <a:endParaRPr lang="en-US" sz="1350" dirty="0"/>
          </a:p>
        </p:txBody>
      </p:sp>
      <p:pic>
        <p:nvPicPr>
          <p:cNvPr id="4" name="Image 0" descr="C:\Users\Abdul\Documents\University\DUBAI\dugong-uae\D_dashboard\figures\C5_weight_sensitiv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97380" y="1600200"/>
            <a:ext cx="534924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 D — a dashboard for decision-makers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8046720" cy="3291840"/>
          </a:xfrm>
          <a:prstGeom prst="roundRect">
            <a:avLst>
              <a:gd name="adj" fmla="val 2222"/>
            </a:avLst>
          </a:prstGeom>
          <a:solidFill>
            <a:srgbClr val="0B1F3A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508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risk map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22960" y="1920240"/>
            <a:ext cx="3383280" cy="2377440"/>
          </a:xfrm>
          <a:prstGeom prst="roundRect">
            <a:avLst>
              <a:gd name="adj" fmla="val 2308"/>
            </a:avLst>
          </a:prstGeom>
          <a:solidFill>
            <a:srgbClr val="133A5C"/>
          </a:solidFill>
          <a:ln/>
        </p:spPr>
      </p:sp>
      <p:sp>
        <p:nvSpPr>
          <p:cNvPr id="6" name="Shape 4"/>
          <p:cNvSpPr/>
          <p:nvPr/>
        </p:nvSpPr>
        <p:spPr>
          <a:xfrm>
            <a:off x="1005840" y="2103120"/>
            <a:ext cx="256032" cy="256032"/>
          </a:xfrm>
          <a:prstGeom prst="rect">
            <a:avLst/>
          </a:prstGeom>
          <a:solidFill>
            <a:srgbClr val="2C7BB6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208483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7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Low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005840" y="2487168"/>
            <a:ext cx="256032" cy="256032"/>
          </a:xfrm>
          <a:prstGeom prst="rect">
            <a:avLst/>
          </a:prstGeom>
          <a:solidFill>
            <a:srgbClr val="ABD9E9"/>
          </a:solidFill>
          <a:ln/>
        </p:spPr>
      </p:sp>
      <p:sp>
        <p:nvSpPr>
          <p:cNvPr id="9" name="Text 7"/>
          <p:cNvSpPr/>
          <p:nvPr/>
        </p:nvSpPr>
        <p:spPr>
          <a:xfrm>
            <a:off x="1371600" y="246888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7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005840" y="2871216"/>
            <a:ext cx="256032" cy="256032"/>
          </a:xfrm>
          <a:prstGeom prst="rect">
            <a:avLst/>
          </a:prstGeom>
          <a:solidFill>
            <a:srgbClr val="FFFFBF"/>
          </a:solidFill>
          <a:ln/>
        </p:spPr>
      </p:sp>
      <p:sp>
        <p:nvSpPr>
          <p:cNvPr id="11" name="Text 9"/>
          <p:cNvSpPr/>
          <p:nvPr/>
        </p:nvSpPr>
        <p:spPr>
          <a:xfrm>
            <a:off x="1371600" y="2852928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7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005840" y="3255264"/>
            <a:ext cx="256032" cy="256032"/>
          </a:xfrm>
          <a:prstGeom prst="rect">
            <a:avLst/>
          </a:prstGeom>
          <a:solidFill>
            <a:srgbClr val="FDAE61"/>
          </a:solidFill>
          <a:ln/>
        </p:spPr>
      </p:sp>
      <p:sp>
        <p:nvSpPr>
          <p:cNvPr id="13" name="Text 11"/>
          <p:cNvSpPr/>
          <p:nvPr/>
        </p:nvSpPr>
        <p:spPr>
          <a:xfrm>
            <a:off x="1371600" y="3236976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7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005840" y="3639312"/>
            <a:ext cx="256032" cy="256032"/>
          </a:xfrm>
          <a:prstGeom prst="rect">
            <a:avLst/>
          </a:prstGeom>
          <a:solidFill>
            <a:srgbClr val="D7191C"/>
          </a:solidFill>
          <a:ln/>
        </p:spPr>
      </p:sp>
      <p:sp>
        <p:nvSpPr>
          <p:cNvPr id="15" name="Text 13"/>
          <p:cNvSpPr/>
          <p:nvPr/>
        </p:nvSpPr>
        <p:spPr>
          <a:xfrm>
            <a:off x="1371600" y="3621024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7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High</a:t>
            </a:r>
            <a:endParaRPr lang="en-US" sz="12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80560" y="1554480"/>
            <a:ext cx="292608" cy="292608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4892040" y="1499616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5-class risk map, ranked hotspots with click-through detail</a:t>
            </a:r>
            <a:endParaRPr lang="en-US" sz="1250" dirty="0"/>
          </a:p>
        </p:txBody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2468880"/>
            <a:ext cx="292608" cy="292608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4892040" y="2414016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Toggleable threat layers: protected areas, dugong cores, discharge, development, vessels</a:t>
            </a:r>
            <a:endParaRPr lang="en-US" sz="1250" dirty="0"/>
          </a:p>
        </p:txBody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3383280"/>
            <a:ext cx="292608" cy="29260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4892040" y="3328416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risk index + threat pressure for drill-down analysis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3716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pixels to protection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58368" y="228600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7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reproducible, evidence-based way to rank where conservation effort matters most — </a:t>
            </a:r>
            <a:pPr indent="0" marL="0">
              <a:buNone/>
            </a:pPr>
            <a:r>
              <a:rPr lang="en-US" sz="1600" b="1" dirty="0">
                <a:solidFill>
                  <a:srgbClr val="8FC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entirely on free satellite data and open methodology.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58368" y="44805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C9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Dugong Watch — Prototypes for Humanity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Dugong Watch — Seagrass Habitat Risk Mapping</dc:title>
  <dc:subject>PptxGenJS Presentation</dc:subject>
  <dc:creator>Dugong Watch Team</dc:creator>
  <cp:lastModifiedBy>Dugong Watch Team</cp:lastModifiedBy>
  <cp:revision>1</cp:revision>
  <dcterms:created xsi:type="dcterms:W3CDTF">2026-07-04T06:29:10Z</dcterms:created>
  <dcterms:modified xsi:type="dcterms:W3CDTF">2026-07-04T06:29:10Z</dcterms:modified>
</cp:coreProperties>
</file>