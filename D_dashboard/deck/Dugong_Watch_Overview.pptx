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772400" y="45720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DUGONG WATCH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58368" y="2788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Seagrass Habitat Risk Mapping for Dugong Conservation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58368" y="3291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Marawah / Bu Tinah Marine Biosphere Reserve — Abu Dhabi, UAE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58368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 for Humanity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rgbClr val="E3EEF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35331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globally significant population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508760" y="1700784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~3,000-3,500 dugongs live in Abu Dhabi waters - the 2nd largest population on Earth, after Australia.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640080" cy="640080"/>
          </a:xfrm>
          <a:prstGeom prst="ellipse">
            <a:avLst/>
          </a:prstGeom>
          <a:solidFill>
            <a:srgbClr val="E1EEF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517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49631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Almost entirely seagrass-dependent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508760" y="2843784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Dugongs feed almost exclusively on seagrass meadows, mainly Halodule uninervis, in shallow (&lt;5m) Gulf waters.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657600"/>
            <a:ext cx="640080" cy="640080"/>
          </a:xfrm>
          <a:prstGeom prst="ellipse">
            <a:avLst/>
          </a:prstGeom>
          <a:solidFill>
            <a:srgbClr val="FBE7E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9476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63931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habitat is under real pressure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508760" y="3986784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development, dredging, desalination discharge, marine heat, and vessel traffic are all eroding 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five-stage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track hands its output to the next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508760" cy="2606040"/>
          </a:xfrm>
          <a:prstGeom prst="roundRect">
            <a:avLst>
              <a:gd name="adj" fmla="val 484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099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103120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274320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GEE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24612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imagery, cloud masking, feature stack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057400" y="26746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›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194560" y="1600200"/>
            <a:ext cx="1508760" cy="2606040"/>
          </a:xfrm>
          <a:prstGeom prst="roundRect">
            <a:avLst>
              <a:gd name="adj" fmla="val 484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194560" y="17099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908" y="2103120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67712" y="274320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Classification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286000" y="324612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seagrass mapping, 85.3% accuracy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703320" y="26746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›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840480" y="1600200"/>
            <a:ext cx="1508760" cy="2606040"/>
          </a:xfrm>
          <a:prstGeom prst="roundRect">
            <a:avLst>
              <a:gd name="adj" fmla="val 484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3840480" y="17099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28" y="2103120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13632" y="274320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Modelling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931920" y="324612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threat overlay, ranked hotspots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5349240" y="26746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›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486400" y="1600200"/>
            <a:ext cx="1508760" cy="2606040"/>
          </a:xfrm>
          <a:prstGeom prst="roundRect">
            <a:avLst>
              <a:gd name="adj" fmla="val 484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5486400" y="17099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748" y="2103120"/>
            <a:ext cx="512064" cy="5120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59552" y="274320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577840" y="324612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risk map for stakeholders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6995160" y="26746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›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7132320" y="1600200"/>
            <a:ext cx="1508760" cy="2606040"/>
          </a:xfrm>
          <a:prstGeom prst="roundRect">
            <a:avLst>
              <a:gd name="adj" fmla="val 484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7132320" y="17099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5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0668" y="2103120"/>
            <a:ext cx="512064" cy="51206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05472" y="274320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&amp; Submission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7223760" y="324612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methodology, impact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B — classifying seagrass from space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85.3%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1762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accuracy, class-balanced Random Forest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E3F2E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8803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</a:t>
            </a:r>
            <a:pPr indent="0" marL="0">
              <a:buNone/>
            </a:pPr>
            <a:r>
              <a:rPr lang="en-US" sz="11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73-87%</a:t>
            </a:r>
            <a:pPr indent="0" marL="0">
              <a:buNone/>
            </a:pPr>
            <a:r>
              <a:rPr lang="en-US" sz="115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published target range for this method</a:t>
            </a:r>
            <a:endParaRPr lang="en-US" sz="1150" dirty="0"/>
          </a:p>
        </p:txBody>
      </p:sp>
      <p:pic>
        <p:nvPicPr>
          <p:cNvPr id="7" name="Image 0" descr="C:\Users\Abdul\Documents\University\DUBAI\dugong-uae\D_dashboard\figures\B4_confusion_mat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554480"/>
            <a:ext cx="4892040" cy="25831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C — where is habitat most at risk?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= Value × Threat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seagrass presence weighted by dugong use, times a weighted overlay of 5 real threat factors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276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risk hotspots identified (≥ 5 ha)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1363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85800" y="37490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mean risk inside the dugong core vs. the whole reserve</a:t>
            </a:r>
            <a:endParaRPr lang="en-US" sz="1100" dirty="0"/>
          </a:p>
        </p:txBody>
      </p:sp>
      <p:pic>
        <p:nvPicPr>
          <p:cNvPr id="10" name="Image 0" descr="C:\Users\Abdul\Documents\University\DUBAI\dugong-uae\D_dashboard\figures\C4_hotspot_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0984" y="1417320"/>
            <a:ext cx="5095951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risk model trustworthy?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stress-tested it: every one of the 5 weights was perturbed ±10% and the hotspots were re-ranked.</a:t>
            </a:r>
            <a:endParaRPr lang="en-US" sz="1350" dirty="0"/>
          </a:p>
        </p:txBody>
      </p:sp>
      <p:pic>
        <p:nvPicPr>
          <p:cNvPr id="4" name="Image 0" descr="C:\Users\Abdul\Documents\University\DUBAI\dugong-uae\D_dashboard\figures\C5_weight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7380" y="1600200"/>
            <a:ext cx="53492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D — a dashboard for decision-makers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046720" cy="3291840"/>
          </a:xfrm>
          <a:prstGeom prst="roundRect">
            <a:avLst>
              <a:gd name="adj" fmla="val 2222"/>
            </a:avLst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risk map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383280" cy="2377440"/>
          </a:xfrm>
          <a:prstGeom prst="roundRect">
            <a:avLst>
              <a:gd name="adj" fmla="val 2308"/>
            </a:avLst>
          </a:prstGeom>
          <a:solidFill>
            <a:srgbClr val="133A5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103120"/>
            <a:ext cx="256032" cy="256032"/>
          </a:xfrm>
          <a:prstGeom prst="rect">
            <a:avLst/>
          </a:prstGeom>
          <a:solidFill>
            <a:srgbClr val="2C7BB6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0848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2487168"/>
            <a:ext cx="256032" cy="256032"/>
          </a:xfrm>
          <a:prstGeom prst="rect">
            <a:avLst/>
          </a:prstGeom>
          <a:solidFill>
            <a:srgbClr val="ABD9E9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468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2871216"/>
            <a:ext cx="256032" cy="256032"/>
          </a:xfrm>
          <a:prstGeom prst="rect">
            <a:avLst/>
          </a:prstGeom>
          <a:solidFill>
            <a:srgbClr val="FFFFB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8529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5840" y="3255264"/>
            <a:ext cx="256032" cy="256032"/>
          </a:xfrm>
          <a:prstGeom prst="rect">
            <a:avLst/>
          </a:prstGeom>
          <a:solidFill>
            <a:srgbClr val="FDAE61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2369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3639312"/>
            <a:ext cx="256032" cy="256032"/>
          </a:xfrm>
          <a:prstGeom prst="rect">
            <a:avLst/>
          </a:prstGeom>
          <a:solidFill>
            <a:srgbClr val="D7191C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6210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554480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892040" y="1499616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5-class risk map, ranked hotspots with click-through detail</a:t>
            </a:r>
            <a:endParaRPr lang="en-US" sz="12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468880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892040" y="2414016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Toggleable threat layers: protected areas, dugong cores, discharge, development, vessels</a:t>
            </a:r>
            <a:endParaRPr lang="en-US" sz="12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383280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92040" y="3328416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risk index + threat pressure for drill-down analysis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pixels to protection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22860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reproducible, evidence-based way to rank where conservation effort matters most — </a:t>
            </a:r>
            <a:pPr indent="0" marL="0">
              <a:buNone/>
            </a:pPr>
            <a:r>
              <a:rPr lang="en-US" sz="1600" b="1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free satellite data and open methodology.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— Prototypes for Humanity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Dugong Watch — Seagrass Habitat Risk Mapping</dc:title>
  <dc:subject>PptxGenJS Presentation</dc:subject>
  <dc:creator>Dugong Watch Team</dc:creator>
  <cp:lastModifiedBy>Dugong Watch Team</cp:lastModifiedBy>
  <cp:revision>1</cp:revision>
  <dcterms:created xsi:type="dcterms:W3CDTF">2026-07-04T06:10:10Z</dcterms:created>
  <dcterms:modified xsi:type="dcterms:W3CDTF">2026-07-04T06:10:10Z</dcterms:modified>
</cp:coreProperties>
</file>