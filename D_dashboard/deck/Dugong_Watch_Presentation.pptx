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097280"/>
            <a:ext cx="3840480" cy="3840480"/>
          </a:xfrm>
          <a:prstGeom prst="ellipse">
            <a:avLst/>
          </a:prstGeom>
          <a:solidFill>
            <a:srgbClr val="12325A"/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2834640"/>
            <a:ext cx="2743200" cy="2743200"/>
          </a:xfrm>
          <a:prstGeom prst="ellipse">
            <a:avLst/>
          </a:prstGeom>
          <a:solidFill>
            <a:srgbClr val="0E2A4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658368" y="1234440"/>
            <a:ext cx="777240" cy="777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0574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DUGONG WATCH</a:t>
            </a:r>
            <a:endParaRPr lang="en-US" sz="5000" dirty="0"/>
          </a:p>
        </p:txBody>
      </p:sp>
      <p:sp>
        <p:nvSpPr>
          <p:cNvPr id="6" name="Text 3"/>
          <p:cNvSpPr/>
          <p:nvPr/>
        </p:nvSpPr>
        <p:spPr>
          <a:xfrm>
            <a:off x="658368" y="3063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8FC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Seagrass Habitat Risk Mapping for Dugong Conservation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658368" y="358444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Marawah / Bu Tinah Marine Biosphere Reserve  —  Abu Dhabi, UAE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85800" y="4315968"/>
            <a:ext cx="201168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8368" y="4434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C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Prototypes for Humanity 2026  ·  Final Presentation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pixels to ranked priorities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turns free satellite imagery into a transparent, ranked map of where dugong seagrass habitat is both valuable and under real pressure.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587752" cy="1298448"/>
          </a:xfrm>
          <a:prstGeom prst="roundRect">
            <a:avLst>
              <a:gd name="adj" fmla="val 4930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2048256"/>
            <a:ext cx="2496312" cy="566928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85.3%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704088" y="2633472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seagrass classification accuracy (balanced Random Forest)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9272" y="1920240"/>
            <a:ext cx="2587752" cy="1298448"/>
          </a:xfrm>
          <a:prstGeom prst="roundRect">
            <a:avLst>
              <a:gd name="adj" fmla="val 4930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64992" y="2048256"/>
            <a:ext cx="2496312" cy="566928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D719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105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3474720" y="2633472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risk hotspots identified (≥ 5 ha)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89904" y="1920240"/>
            <a:ext cx="2587752" cy="1298448"/>
          </a:xfrm>
          <a:prstGeom prst="roundRect">
            <a:avLst>
              <a:gd name="adj" fmla="val 4930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135624" y="2048256"/>
            <a:ext cx="2496312" cy="566928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D719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3×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6245352" y="2633472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mean risk inside the dugong core vs. reserve-wide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419856"/>
            <a:ext cx="2587752" cy="1298448"/>
          </a:xfrm>
          <a:prstGeom prst="roundRect">
            <a:avLst>
              <a:gd name="adj" fmla="val 4930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94360" y="3547872"/>
            <a:ext cx="2496312" cy="566928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704088" y="4133088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threat factors combined into one weighted index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319272" y="3419856"/>
            <a:ext cx="2587752" cy="1298448"/>
          </a:xfrm>
          <a:prstGeom prst="roundRect">
            <a:avLst>
              <a:gd name="adj" fmla="val 4930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364992" y="3547872"/>
            <a:ext cx="2496312" cy="566928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774.6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3474720" y="4133088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km² study area, entirely inside the biosphere reserve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089904" y="3419856"/>
            <a:ext cx="2587752" cy="1298448"/>
          </a:xfrm>
          <a:prstGeom prst="roundRect">
            <a:avLst>
              <a:gd name="adj" fmla="val 4930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135624" y="3547872"/>
            <a:ext cx="2496312" cy="566928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3300" dirty="0"/>
          </a:p>
        </p:txBody>
      </p:sp>
      <p:sp>
        <p:nvSpPr>
          <p:cNvPr id="22" name="Text 20"/>
          <p:cNvSpPr/>
          <p:nvPr/>
        </p:nvSpPr>
        <p:spPr>
          <a:xfrm>
            <a:off x="6245352" y="4133088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data cost — free Sentinel-2 / Landsat imagery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we’ll walk through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9502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55064"/>
            <a:ext cx="457200" cy="457200"/>
          </a:xfrm>
          <a:prstGeom prst="ellipse">
            <a:avLst/>
          </a:prstGeom>
          <a:solidFill>
            <a:srgbClr val="D7191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764792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89888" y="1545336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 The problem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389888" y="1847088"/>
            <a:ext cx="2990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dugong habitat needs a risk map, and why one doesn’t exist yet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736592" y="1417320"/>
            <a:ext cx="39502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37760" y="1655064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488" y="1764792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77840" y="1545336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 The pipeline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5577840" y="1847088"/>
            <a:ext cx="2990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five tracks turn imagery into a ranked, auditable output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2514600"/>
            <a:ext cx="39502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49808" y="2752344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2862072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89888" y="2642616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 Classification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1389888" y="2944368"/>
            <a:ext cx="2990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seagrass from Sentinel-2 with a validated ML model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736592" y="2514600"/>
            <a:ext cx="39502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937760" y="2752344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2862072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77840" y="2642616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 Risk modelling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5577840" y="2944368"/>
            <a:ext cx="2990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habitat value with five weighted threat factors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48640" y="3611880"/>
            <a:ext cx="39502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49808" y="3849624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3959352"/>
            <a:ext cx="237744" cy="23774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389888" y="3739896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 Validation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1389888" y="4041648"/>
            <a:ext cx="2990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independent checks that the risk output is trustworthy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4736592" y="3611880"/>
            <a:ext cx="39502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4937760" y="3849624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7488" y="3959352"/>
            <a:ext cx="237744" cy="23774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577840" y="3739896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 Impact &amp; limits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5577840" y="4041648"/>
            <a:ext cx="2990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enables locally and globally — and what it is not, yet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 ·  1 OF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globally significant population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8FC1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3,000–3,500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576072" y="2697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dugongs in Abu Dhabi waters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76072" y="3246120"/>
            <a:ext cx="3794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second-largest dugong population on Earth</a:t>
            </a:r>
            <a:pPr indent="0" marL="0">
              <a:buNone/>
            </a:pPr>
            <a:r>
              <a:rPr lang="en-US" sz="135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after Australia — concentrated in the Marawah / Bu Tinah region and recognised by UNESCO as a Man and the Biosphere reserve.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663440" y="1691640"/>
            <a:ext cx="3931920" cy="932688"/>
          </a:xfrm>
          <a:prstGeom prst="roundRect">
            <a:avLst>
              <a:gd name="adj" fmla="val 5882"/>
            </a:avLst>
          </a:prstGeom>
          <a:solidFill>
            <a:srgbClr val="12325A"/>
          </a:solidFill>
          <a:ln/>
        </p:spPr>
      </p:sp>
      <p:sp>
        <p:nvSpPr>
          <p:cNvPr id="8" name="Shape 6"/>
          <p:cNvSpPr/>
          <p:nvPr/>
        </p:nvSpPr>
        <p:spPr>
          <a:xfrm>
            <a:off x="4864608" y="1938528"/>
            <a:ext cx="438912" cy="438912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5192" y="2039112"/>
            <a:ext cx="237744" cy="23774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40680" y="181965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Vulnerable (IUCN)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440680" y="211226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dugong is the only strictly herbivorous marine mammal, and is listed as Vulnerable to extinction globally.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663440" y="2724912"/>
            <a:ext cx="3931920" cy="932688"/>
          </a:xfrm>
          <a:prstGeom prst="roundRect">
            <a:avLst>
              <a:gd name="adj" fmla="val 5882"/>
            </a:avLst>
          </a:prstGeom>
          <a:solidFill>
            <a:srgbClr val="12325A"/>
          </a:solidFill>
          <a:ln/>
        </p:spPr>
      </p:sp>
      <p:sp>
        <p:nvSpPr>
          <p:cNvPr id="13" name="Shape 10"/>
          <p:cNvSpPr/>
          <p:nvPr/>
        </p:nvSpPr>
        <p:spPr>
          <a:xfrm>
            <a:off x="4864608" y="2971800"/>
            <a:ext cx="438912" cy="438912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3072384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440680" y="285292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UNESCO biosphere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5440680" y="314553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Marawah is the UAE’s first UNESCO Man &amp; Biosphere reserve, and a designated Marine Protected Area.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63440" y="3758184"/>
            <a:ext cx="3931920" cy="932688"/>
          </a:xfrm>
          <a:prstGeom prst="roundRect">
            <a:avLst>
              <a:gd name="adj" fmla="val 5882"/>
            </a:avLst>
          </a:prstGeom>
          <a:solidFill>
            <a:srgbClr val="12325A"/>
          </a:solidFill>
          <a:ln/>
        </p:spPr>
      </p:sp>
      <p:sp>
        <p:nvSpPr>
          <p:cNvPr id="18" name="Shape 14"/>
          <p:cNvSpPr/>
          <p:nvPr/>
        </p:nvSpPr>
        <p:spPr>
          <a:xfrm>
            <a:off x="4864608" y="4005072"/>
            <a:ext cx="438912" cy="438912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192" y="4105656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440680" y="388620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Shallow, warm waters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5440680" y="41788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Dugongs forage in waters under ~5 m deep, in one of the hottest, most rapidly developing seas on Earth.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 ·  2 OF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Survival hangs on one resource: seagrass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Dugongs feed almost exclusively on seagrass meadows. Protect the seagrass and you protect the dugong; lose it and the population has nowhere to go. That makes seagrass the single most decision-relevant thing to map — and to protect.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2331720"/>
            <a:ext cx="2487168" cy="1783080"/>
          </a:xfrm>
          <a:prstGeom prst="roundRect">
            <a:avLst>
              <a:gd name="adj" fmla="val 4103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517904" y="2587752"/>
            <a:ext cx="768096" cy="768096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0784" y="2788920"/>
            <a:ext cx="402336" cy="402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68096" y="3465576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Healthy seagrass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95528" y="3758184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meadows in shallow Gulf waters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163824" y="29032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</a:rPr>
              <a:t>›</a:t>
            </a:r>
            <a:endParaRPr lang="en-US" sz="3000" dirty="0"/>
          </a:p>
        </p:txBody>
      </p:sp>
      <p:sp>
        <p:nvSpPr>
          <p:cNvPr id="11" name="Shape 8"/>
          <p:cNvSpPr/>
          <p:nvPr/>
        </p:nvSpPr>
        <p:spPr>
          <a:xfrm>
            <a:off x="3648456" y="2331720"/>
            <a:ext cx="2487168" cy="1783080"/>
          </a:xfrm>
          <a:prstGeom prst="roundRect">
            <a:avLst>
              <a:gd name="adj" fmla="val 4103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07992" y="2587752"/>
            <a:ext cx="768096" cy="768096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0872" y="2788920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758184" y="3465576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Feeds the dugong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3785616" y="3758184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adult grazes ~30 kg of seagrass daily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6153912" y="29032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</a:rPr>
              <a:t>›</a:t>
            </a:r>
            <a:endParaRPr lang="en-US" sz="3000" dirty="0"/>
          </a:p>
        </p:txBody>
      </p:sp>
      <p:sp>
        <p:nvSpPr>
          <p:cNvPr id="17" name="Shape 13"/>
          <p:cNvSpPr/>
          <p:nvPr/>
        </p:nvSpPr>
        <p:spPr>
          <a:xfrm>
            <a:off x="6638544" y="2331720"/>
            <a:ext cx="2487168" cy="1783080"/>
          </a:xfrm>
          <a:prstGeom prst="roundRect">
            <a:avLst>
              <a:gd name="adj" fmla="val 4103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498080" y="2587752"/>
            <a:ext cx="768096" cy="768096"/>
          </a:xfrm>
          <a:prstGeom prst="ellipse">
            <a:avLst/>
          </a:prstGeom>
          <a:solidFill>
            <a:srgbClr val="D7191C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2788920"/>
            <a:ext cx="402336" cy="40233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748272" y="3465576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Sustains the population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6775704" y="3758184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seagrass → no foraging → no dugongs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 ·  3 OF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measurable pressures on the habitat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51460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572768"/>
            <a:ext cx="512064" cy="512064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916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215798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Coastal development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49808" y="2414016"/>
            <a:ext cx="2130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Dredging and land reclamation directly bury or smother meadows.</a:t>
            </a:r>
            <a:endParaRPr lang="en-US" sz="980" dirty="0"/>
          </a:p>
        </p:txBody>
      </p:sp>
      <p:sp>
        <p:nvSpPr>
          <p:cNvPr id="9" name="Shape 6"/>
          <p:cNvSpPr/>
          <p:nvPr/>
        </p:nvSpPr>
        <p:spPr>
          <a:xfrm>
            <a:off x="3246120" y="1371600"/>
            <a:ext cx="251460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47288" y="1572768"/>
            <a:ext cx="512064" cy="512064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69164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47288" y="215798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Desalination &amp; discharge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3447288" y="2414016"/>
            <a:ext cx="2130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Brine and industrial outfall raise salinity and temperature locally.</a:t>
            </a:r>
            <a:endParaRPr lang="en-US" sz="980" dirty="0"/>
          </a:p>
        </p:txBody>
      </p:sp>
      <p:sp>
        <p:nvSpPr>
          <p:cNvPr id="14" name="Shape 10"/>
          <p:cNvSpPr/>
          <p:nvPr/>
        </p:nvSpPr>
        <p:spPr>
          <a:xfrm>
            <a:off x="5943600" y="1371600"/>
            <a:ext cx="251460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144768" y="1572768"/>
            <a:ext cx="512064" cy="512064"/>
          </a:xfrm>
          <a:prstGeom prst="ellipse">
            <a:avLst/>
          </a:prstGeom>
          <a:solidFill>
            <a:srgbClr val="D7191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9164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144768" y="215798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Marine heat stress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144768" y="2414016"/>
            <a:ext cx="2130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Gulf is among the hottest seas on Earth; heatwaves bleach seagrass.</a:t>
            </a:r>
            <a:endParaRPr lang="en-US" sz="980" dirty="0"/>
          </a:p>
        </p:txBody>
      </p:sp>
      <p:sp>
        <p:nvSpPr>
          <p:cNvPr id="19" name="Shape 14"/>
          <p:cNvSpPr/>
          <p:nvPr/>
        </p:nvSpPr>
        <p:spPr>
          <a:xfrm>
            <a:off x="1897380" y="2990088"/>
            <a:ext cx="251460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2098548" y="3191256"/>
            <a:ext cx="512064" cy="512064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7420" y="3310128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2098548" y="377647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Vessel pressure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2098548" y="4032504"/>
            <a:ext cx="2130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Propeller scarring and groundings damage shallow foraging beds.</a:t>
            </a:r>
            <a:endParaRPr lang="en-US" sz="980" dirty="0"/>
          </a:p>
        </p:txBody>
      </p:sp>
      <p:sp>
        <p:nvSpPr>
          <p:cNvPr id="24" name="Shape 18"/>
          <p:cNvSpPr/>
          <p:nvPr/>
        </p:nvSpPr>
        <p:spPr>
          <a:xfrm>
            <a:off x="4594860" y="2990088"/>
            <a:ext cx="251460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796028" y="3191256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4900" y="3310128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796028" y="377647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Observed loss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4796028" y="4032504"/>
            <a:ext cx="2130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seagrass decline between 2019 and 2024 from imagery itself.</a:t>
            </a:r>
            <a:endParaRPr lang="en-US" sz="980" dirty="0"/>
          </a:p>
        </p:txBody>
      </p:sp>
      <p:sp>
        <p:nvSpPr>
          <p:cNvPr id="29" name="Text 22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 ·  4 OF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no existing tool answers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8046720" cy="960120"/>
          </a:xfrm>
          <a:prstGeom prst="roundRect">
            <a:avLst>
              <a:gd name="adj" fmla="val 761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41732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D7E6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simply “where is there seagrass,” but </a:t>
            </a:r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is seagrass both present and under enough pressure that its loss would matter for dugong survival?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548640" y="254203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 it means combining three things that are rarely brought together: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971800"/>
            <a:ext cx="2587752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3191256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3300984"/>
            <a:ext cx="237744" cy="23774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25880" y="3191256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Habitat maps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68096" y="3630168"/>
            <a:ext cx="21671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seagrass exists — but surveys are episodic and expensive to run at scale.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319272" y="2971800"/>
            <a:ext cx="2587752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520440" y="3191256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3300984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096512" y="3191256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over time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538728" y="3630168"/>
            <a:ext cx="21671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it is being lost — rarely tracked consistently across years.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089904" y="2971800"/>
            <a:ext cx="2587752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91072" y="3191256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300984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867144" y="3191256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Threat data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309360" y="3630168"/>
            <a:ext cx="21671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pressures act where — scattered across non-standardised sources.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tracks, each feeding the next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508760" cy="2606040"/>
          </a:xfrm>
          <a:prstGeom prst="roundRect">
            <a:avLst>
              <a:gd name="adj" fmla="val 4848"/>
            </a:avLst>
          </a:prstGeom>
          <a:solidFill>
            <a:srgbClr val="065A82"/>
          </a:solidFill>
          <a:ln/>
          <a:effectLst>
            <a:outerShdw sx="100000" sy="100000" kx="0" ky="0" algn="bl" rotWithShape="0" blurRad="101600" dist="25400" dir="27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865376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C1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6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2267712"/>
            <a:ext cx="512064" cy="5120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21792" y="2926080"/>
            <a:ext cx="1362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&amp; GEE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342900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Sentinel-2 imagery, cloud masking, 14-band feature stack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2057400" y="281178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›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194560" y="1737360"/>
            <a:ext cx="1508760" cy="2606040"/>
          </a:xfrm>
          <a:prstGeom prst="roundRect">
            <a:avLst>
              <a:gd name="adj" fmla="val 4848"/>
            </a:avLst>
          </a:prstGeom>
          <a:solidFill>
            <a:srgbClr val="065A82"/>
          </a:solidFill>
          <a:ln/>
          <a:effectLst>
            <a:outerShdw sx="100000" sy="100000" kx="0" ky="0" algn="bl" rotWithShape="0" blurRad="101600" dist="25400" dir="2700000">
              <a:srgbClr val="000000">
                <a:alpha val="1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194560" y="1865376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C1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2908" y="2267712"/>
            <a:ext cx="512064" cy="51206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267712" y="2926080"/>
            <a:ext cx="1362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ML Classification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2286000" y="342900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seagrass mapping, 85.3% accuracy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3703320" y="281178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›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3840480" y="1737360"/>
            <a:ext cx="1508760" cy="2606040"/>
          </a:xfrm>
          <a:prstGeom prst="roundRect">
            <a:avLst>
              <a:gd name="adj" fmla="val 4848"/>
            </a:avLst>
          </a:prstGeom>
          <a:solidFill>
            <a:srgbClr val="065A82"/>
          </a:solidFill>
          <a:ln/>
          <a:effectLst>
            <a:outerShdw sx="100000" sy="100000" kx="0" ky="0" algn="bl" rotWithShape="0" blurRad="101600" dist="25400" dir="2700000">
              <a:srgbClr val="000000">
                <a:alpha val="1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3840480" y="1865376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C1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6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828" y="2267712"/>
            <a:ext cx="512064" cy="51206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913632" y="2926080"/>
            <a:ext cx="1362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Modelling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3931920" y="342900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threat overlay, 105 ranked hotspots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5349240" y="281178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›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5486400" y="1737360"/>
            <a:ext cx="1508760" cy="2606040"/>
          </a:xfrm>
          <a:prstGeom prst="roundRect">
            <a:avLst>
              <a:gd name="adj" fmla="val 4848"/>
            </a:avLst>
          </a:prstGeom>
          <a:solidFill>
            <a:srgbClr val="065A82"/>
          </a:solidFill>
          <a:ln/>
          <a:effectLst>
            <a:outerShdw sx="100000" sy="100000" kx="0" ky="0" algn="bl" rotWithShape="0" blurRad="101600" dist="25400" dir="2700000">
              <a:srgbClr val="000000">
                <a:alpha val="15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5486400" y="1865376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C1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6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4748" y="2267712"/>
            <a:ext cx="512064" cy="51206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559552" y="2926080"/>
            <a:ext cx="1362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5577840" y="342900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risk map for stakeholders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6995160" y="281178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›</a:t>
            </a:r>
            <a:endParaRPr lang="en-US" sz="1600" dirty="0"/>
          </a:p>
        </p:txBody>
      </p:sp>
      <p:sp>
        <p:nvSpPr>
          <p:cNvPr id="28" name="Shape 22"/>
          <p:cNvSpPr/>
          <p:nvPr/>
        </p:nvSpPr>
        <p:spPr>
          <a:xfrm>
            <a:off x="7132320" y="1737360"/>
            <a:ext cx="1508760" cy="2606040"/>
          </a:xfrm>
          <a:prstGeom prst="roundRect">
            <a:avLst>
              <a:gd name="adj" fmla="val 4848"/>
            </a:avLst>
          </a:prstGeom>
          <a:solidFill>
            <a:srgbClr val="065A82"/>
          </a:solidFill>
          <a:ln/>
          <a:effectLst>
            <a:outerShdw sx="100000" sy="100000" kx="0" ky="0" algn="bl" rotWithShape="0" blurRad="101600" dist="25400" dir="2700000">
              <a:srgbClr val="000000">
                <a:alpha val="15000"/>
              </a:srgbClr>
            </a:outerShdw>
          </a:effectLst>
        </p:spPr>
      </p:sp>
      <p:sp>
        <p:nvSpPr>
          <p:cNvPr id="29" name="Text 23"/>
          <p:cNvSpPr/>
          <p:nvPr/>
        </p:nvSpPr>
        <p:spPr>
          <a:xfrm>
            <a:off x="7132320" y="1865376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C1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1600" dirty="0"/>
          </a:p>
        </p:txBody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0668" y="2267712"/>
            <a:ext cx="512064" cy="51206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205472" y="2926080"/>
            <a:ext cx="1362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</a:t>
            </a:r>
            <a:endParaRPr lang="en-US" sz="1300" dirty="0"/>
          </a:p>
        </p:txBody>
      </p:sp>
      <p:sp>
        <p:nvSpPr>
          <p:cNvPr id="32" name="Text 25"/>
          <p:cNvSpPr/>
          <p:nvPr/>
        </p:nvSpPr>
        <p:spPr>
          <a:xfrm>
            <a:off x="7223760" y="342900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Findings, methodology, impact, limitations</a:t>
            </a:r>
            <a:endParaRPr lang="en-US" sz="950" dirty="0"/>
          </a:p>
        </p:txBody>
      </p:sp>
      <p:sp>
        <p:nvSpPr>
          <p:cNvPr id="33" name="Text 26"/>
          <p:cNvSpPr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Owner-per-track structure keeps every stage independently reviewable and reproducible.</a:t>
            </a:r>
            <a:endParaRPr lang="en-US" sz="1100" dirty="0"/>
          </a:p>
        </p:txBody>
      </p:sp>
      <p:sp>
        <p:nvSpPr>
          <p:cNvPr id="34" name="Text 27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35" name="Text 28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 · 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Study area and data sources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774.6 km² </a:t>
            </a:r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 covering the Marawah / Bu Tinah region (lon 52.98–53.32, lat 24.19–24.48), falling entirely inside the Marawah Marine Biosphere Reserve.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8046720" cy="822960"/>
          </a:xfrm>
          <a:prstGeom prst="roundRect">
            <a:avLst>
              <a:gd name="adj" fmla="val 6667"/>
            </a:avLst>
          </a:prstGeom>
          <a:solidFill>
            <a:srgbClr val="F4F9FB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" y="1975104"/>
            <a:ext cx="438912" cy="438912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075688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53312" y="1892808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Sentinel-2 Surface Reflectance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353312" y="2176272"/>
            <a:ext cx="7086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Level-2A, cloud-masked (QA60), median-composited per year. 222 scenes built the 2024 composite. 2019 &amp; 2024 compared.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2679192"/>
            <a:ext cx="8046720" cy="822960"/>
          </a:xfrm>
          <a:prstGeom prst="roundRect">
            <a:avLst>
              <a:gd name="adj" fmla="val 6667"/>
            </a:avLst>
          </a:prstGeom>
          <a:solidFill>
            <a:srgbClr val="F4F9FB"/>
          </a:solidFill>
          <a:ln/>
        </p:spPr>
      </p:sp>
      <p:sp>
        <p:nvSpPr>
          <p:cNvPr id="11" name="Shape 8"/>
          <p:cNvSpPr/>
          <p:nvPr/>
        </p:nvSpPr>
        <p:spPr>
          <a:xfrm>
            <a:off x="749808" y="2871216"/>
            <a:ext cx="438912" cy="438912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971800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353312" y="2788920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Landsat 8/9 thermal (ST_B10)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1353312" y="3072384"/>
            <a:ext cx="7086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 surface temperature (Jun–Sep), converted to °C, water-masked so hot dry land can’t skew the thermal signal.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48640" y="3575304"/>
            <a:ext cx="8046720" cy="822960"/>
          </a:xfrm>
          <a:prstGeom prst="roundRect">
            <a:avLst>
              <a:gd name="adj" fmla="val 6667"/>
            </a:avLst>
          </a:prstGeom>
          <a:solidFill>
            <a:srgbClr val="F4F9FB"/>
          </a:solidFill>
          <a:ln/>
        </p:spPr>
      </p:sp>
      <p:sp>
        <p:nvSpPr>
          <p:cNvPr id="16" name="Shape 12"/>
          <p:cNvSpPr/>
          <p:nvPr/>
        </p:nvSpPr>
        <p:spPr>
          <a:xfrm>
            <a:off x="749808" y="3767328"/>
            <a:ext cx="438912" cy="438912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3867912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53312" y="368503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EAD habitat vector data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1353312" y="3968496"/>
            <a:ext cx="7086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 seagrass + 171 non-seagrass training polygons; a separate 118-polygon reference layer; a 1,954-polygon regional context layer.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548640" y="44988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data is free and public — no proprietary or purchased imagery anywhere in the pipeline.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 ·  FEATURES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bands to a 14-feature stack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annual composite is reduced to 14 predictor features per 10 m pixel — ten raw Sentinel-2 bands plus four spectral indices that sharpen the water–vegetation distinction seagrass classification depends 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977640" cy="2514600"/>
          </a:xfrm>
          <a:prstGeom prst="roundRect">
            <a:avLst>
              <a:gd name="adj" fmla="val 2909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148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raw Sentinel-2 bands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 (blue)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51760" y="256032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 (green)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92608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B4 (red)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651760" y="292608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B5 (red edge)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29184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B6 (red edge)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329184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B7 (red edge)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36576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B8 (NIR)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51760" y="36576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B8A (narrow NIR)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402336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B11 (SWIR)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51760" y="402336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B12 (SWIR)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09160" y="1965960"/>
            <a:ext cx="3886200" cy="2514600"/>
          </a:xfrm>
          <a:prstGeom prst="roundRect">
            <a:avLst>
              <a:gd name="adj" fmla="val 290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937760" y="2148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C1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derived spectral indices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983480" y="257860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NDVI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172200" y="25786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vegetation vigour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83480" y="30175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NDWI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172200" y="3017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open-water index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83480" y="345643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MNDWI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172200" y="34564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water index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83480" y="389534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172200" y="389534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bare-soil index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  ·  CLASSIFICATION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Forest, trained on survey data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950208" cy="1371600"/>
          </a:xfrm>
          <a:prstGeom prst="roundRect">
            <a:avLst>
              <a:gd name="adj" fmla="val 4667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627632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74650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44752" y="1554480"/>
            <a:ext cx="2898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Stratified sampling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44752" y="1865376"/>
            <a:ext cx="28986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points drawn inside training polygons (not one per polygon, since sizes vary up to ~61 km²), each with its 14 band values.</a:t>
            </a:r>
            <a:endParaRPr lang="en-US" sz="1030" dirty="0"/>
          </a:p>
        </p:txBody>
      </p:sp>
      <p:sp>
        <p:nvSpPr>
          <p:cNvPr id="9" name="Shape 6"/>
          <p:cNvSpPr/>
          <p:nvPr/>
        </p:nvSpPr>
        <p:spPr>
          <a:xfrm>
            <a:off x="4736592" y="1371600"/>
            <a:ext cx="3950208" cy="1371600"/>
          </a:xfrm>
          <a:prstGeom prst="roundRect">
            <a:avLst>
              <a:gd name="adj" fmla="val 4667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56048" y="1627632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74650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32704" y="1554480"/>
            <a:ext cx="2898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Forest, 100 trees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632704" y="1865376"/>
            <a:ext cx="28986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ee.Classifier.smileRandomForest, fixed seed for reproducibility, trained on an 80/20 train/test split.</a:t>
            </a:r>
            <a:endParaRPr lang="en-US" sz="1030" dirty="0"/>
          </a:p>
        </p:txBody>
      </p:sp>
      <p:sp>
        <p:nvSpPr>
          <p:cNvPr id="14" name="Shape 10"/>
          <p:cNvSpPr/>
          <p:nvPr/>
        </p:nvSpPr>
        <p:spPr>
          <a:xfrm>
            <a:off x="548640" y="2944368"/>
            <a:ext cx="3950208" cy="1371600"/>
          </a:xfrm>
          <a:prstGeom prst="roundRect">
            <a:avLst>
              <a:gd name="adj" fmla="val 4667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68096" y="3200400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319272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44752" y="3127248"/>
            <a:ext cx="2898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Balanced vs. original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444752" y="3438144"/>
            <a:ext cx="28986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class-balanced model (equal seagrass / non-seagrass samples) beat the imbalanced one on every metric — and is used downstream.</a:t>
            </a:r>
            <a:endParaRPr lang="en-US" sz="1030" dirty="0"/>
          </a:p>
        </p:txBody>
      </p:sp>
      <p:sp>
        <p:nvSpPr>
          <p:cNvPr id="19" name="Shape 14"/>
          <p:cNvSpPr/>
          <p:nvPr/>
        </p:nvSpPr>
        <p:spPr>
          <a:xfrm>
            <a:off x="4736592" y="2944368"/>
            <a:ext cx="3950208" cy="1371600"/>
          </a:xfrm>
          <a:prstGeom prst="roundRect">
            <a:avLst>
              <a:gd name="adj" fmla="val 4667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956048" y="3200400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3319272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632704" y="3127248"/>
            <a:ext cx="2898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model, two years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5632704" y="3438144"/>
            <a:ext cx="28986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trained classifier is applied to 2019 and 2024, so any difference reflects real change, not model drift.</a:t>
            </a:r>
            <a:endParaRPr lang="en-US" sz="1030" dirty="0"/>
          </a:p>
        </p:txBody>
      </p:sp>
      <p:sp>
        <p:nvSpPr>
          <p:cNvPr id="24" name="Text 18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  ·  REFERENCE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ground truth: official EAD seagrass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model classifies anything, it is anchored to reality — the Environment Agency – Abu Dhabi’s own surveyed seagrass beds, clipped to the study area.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21792" y="1764792"/>
            <a:ext cx="2957687" cy="27797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pic>
        <p:nvPicPr>
          <p:cNvPr id="6" name="Image 0" descr="C:\Users\Abdul\Documents\University\DUBAI\dugong-uae\D_dashboard\figures\B_ead_seagrass_ex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2921111" cy="2743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251960" y="1847088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832" y="1965960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892040" y="1828800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118 reference polygons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892040" y="2139696"/>
            <a:ext cx="3703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EAD seagrass beds inside the 774.6 km² Marawah study area.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251960" y="2779776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89864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892040" y="276148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Trains and validates the model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4892040" y="3072384"/>
            <a:ext cx="3703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into training data and a separate reference layer, so accuracy is scored against real survey polygons — not assumptions.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251960" y="3712464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0832" y="3831336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892040" y="369417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task the classifier must match</a:t>
            </a:r>
            <a:endParaRPr lang="en-US" sz="1350" dirty="0"/>
          </a:p>
        </p:txBody>
      </p:sp>
      <p:sp>
        <p:nvSpPr>
          <p:cNvPr id="18" name="Text 12"/>
          <p:cNvSpPr/>
          <p:nvPr/>
        </p:nvSpPr>
        <p:spPr>
          <a:xfrm>
            <a:off x="4892040" y="4005072"/>
            <a:ext cx="3703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this real seagrass extent from Sentinel-2 spectral bands alone — the 85.3% accuracy is measured against it.</a:t>
            </a:r>
            <a:endParaRPr lang="en-US" sz="1050" dirty="0"/>
          </a:p>
        </p:txBody>
      </p:sp>
      <p:sp>
        <p:nvSpPr>
          <p:cNvPr id="19" name="Text 13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  · 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85.3% accuracy, confusion shown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85.3%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3317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accuracy, class-balanced model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2633472" cy="1051560"/>
          </a:xfrm>
          <a:prstGeom prst="roundRect">
            <a:avLst>
              <a:gd name="adj" fmla="val 5217"/>
            </a:avLst>
          </a:prstGeom>
          <a:solidFill>
            <a:srgbClr val="E3F2EC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Cohen’s κ = 0.696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substantial agreement, up from 0.623 for the imbalanced model</a:t>
            </a:r>
            <a:endParaRPr lang="en-US" sz="1050" dirty="0"/>
          </a:p>
        </p:txBody>
      </p:sp>
      <p:pic>
        <p:nvPicPr>
          <p:cNvPr id="8" name="Image 0" descr="C:\Users\Abdul\Documents\University\DUBAI\dugong-uae\D_dashboard\figures\B4_confusion_matri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9000" y="1632127"/>
            <a:ext cx="5074920" cy="267934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  · 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model actually looks at</a:t>
            </a:r>
            <a:endParaRPr lang="en-US" sz="2600" dirty="0"/>
          </a:p>
        </p:txBody>
      </p:sp>
      <p:pic>
        <p:nvPicPr>
          <p:cNvPr id="4" name="Image 0" descr="C:\Users\Abdul\Documents\University\DUBAI\dugong-uae\D_dashboard\figures\B5_feature_impor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3957083" cy="3063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74920" y="155448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0352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Interpretation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303520" y="2121408"/>
            <a:ext cx="31089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Water- and vegetation-index bands (NDWI, BSI, MNDWI, NDVI) rank among the top features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alongside the raw shortwave-infrared band B12.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matches the physics: seagrass discrimination depends on both spectral water characteristics and a vegetation signal, so the derived indices earning their place is a sign the model is learning the right thing.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  ·  CHANGE DETECTION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Seagrass change, 2019 → 2024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one classifier to both years and differencing the results yields four change categories — the “loss” layer becomes the single most heavily weighted threat factor in the risk model.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938528" cy="1965960"/>
          </a:xfrm>
          <a:prstGeom prst="roundRect">
            <a:avLst>
              <a:gd name="adj" fmla="val 3774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25296" y="2331720"/>
            <a:ext cx="585216" cy="585216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3081528"/>
            <a:ext cx="17556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Stable non-seagrass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76656" y="3520440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 / unvegetated bottom in both years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60904" y="2057400"/>
            <a:ext cx="1938528" cy="1965960"/>
          </a:xfrm>
          <a:prstGeom prst="roundRect">
            <a:avLst>
              <a:gd name="adj" fmla="val 3774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37560" y="2331720"/>
            <a:ext cx="585216" cy="585216"/>
          </a:xfrm>
          <a:prstGeom prst="ellipse">
            <a:avLst/>
          </a:prstGeom>
          <a:solidFill>
            <a:srgbClr val="1B7A4A"/>
          </a:solidFill>
          <a:ln/>
        </p:spPr>
      </p:sp>
      <p:sp>
        <p:nvSpPr>
          <p:cNvPr id="11" name="Text 9"/>
          <p:cNvSpPr/>
          <p:nvPr/>
        </p:nvSpPr>
        <p:spPr>
          <a:xfrm>
            <a:off x="2752344" y="3081528"/>
            <a:ext cx="17556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Stable seagrass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88920" y="3520440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meadow — the reliable core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73168" y="2057400"/>
            <a:ext cx="1938528" cy="1965960"/>
          </a:xfrm>
          <a:prstGeom prst="roundRect">
            <a:avLst>
              <a:gd name="adj" fmla="val 3774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49824" y="2331720"/>
            <a:ext cx="585216" cy="585216"/>
          </a:xfrm>
          <a:prstGeom prst="ellipse">
            <a:avLst/>
          </a:prstGeom>
          <a:solidFill>
            <a:srgbClr val="2C7BB6"/>
          </a:solidFill>
          <a:ln/>
        </p:spPr>
      </p:sp>
      <p:sp>
        <p:nvSpPr>
          <p:cNvPr id="15" name="Text 13"/>
          <p:cNvSpPr/>
          <p:nvPr/>
        </p:nvSpPr>
        <p:spPr>
          <a:xfrm>
            <a:off x="4864608" y="3081528"/>
            <a:ext cx="17556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Gain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01184" y="3520440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seagrass detected by 2024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85432" y="2057400"/>
            <a:ext cx="1938528" cy="1965960"/>
          </a:xfrm>
          <a:prstGeom prst="roundRect">
            <a:avLst>
              <a:gd name="adj" fmla="val 3774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562088" y="2331720"/>
            <a:ext cx="585216" cy="585216"/>
          </a:xfrm>
          <a:prstGeom prst="ellipse">
            <a:avLst/>
          </a:prstGeom>
          <a:solidFill>
            <a:srgbClr val="D7191C"/>
          </a:solidFill>
          <a:ln/>
        </p:spPr>
      </p:sp>
      <p:sp>
        <p:nvSpPr>
          <p:cNvPr id="19" name="Text 17"/>
          <p:cNvSpPr/>
          <p:nvPr/>
        </p:nvSpPr>
        <p:spPr>
          <a:xfrm>
            <a:off x="6976872" y="3081528"/>
            <a:ext cx="17556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013448" y="3520440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Seagrass present in 2019, gone by 2024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42976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loss is measured, not assumed, hotspots dominated by “loss” are flagged transparently for read-alongside with classifier accuracy.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  ·  RISK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risk equation, in one line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280160" y="1554480"/>
            <a:ext cx="6583680" cy="1051560"/>
          </a:xfrm>
          <a:prstGeom prst="roundRect">
            <a:avLst>
              <a:gd name="adj" fmla="val 8696"/>
            </a:avLst>
          </a:prstGeom>
          <a:solidFill>
            <a:srgbClr val="12325A"/>
          </a:solidFill>
          <a:ln/>
          <a:effectLst>
            <a:outerShdw sx="100000" sy="100000" kx="0" ky="0" algn="bl" rotWithShape="0" blurRad="101600" dist="25400" dir="27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280160" y="1554480"/>
            <a:ext cx="6583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FC1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</a:t>
            </a:r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=  </a:t>
            </a:r>
            <a:pPr algn="ctr" indent="0" marL="0">
              <a:buNone/>
            </a:pPr>
            <a:r>
              <a:rPr lang="en-US" sz="3400" b="1" dirty="0">
                <a:solidFill>
                  <a:srgbClr val="8FC1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</a:t>
            </a:r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×  </a:t>
            </a:r>
            <a:pPr algn="ctr" indent="0" marL="0">
              <a:buNone/>
            </a:pPr>
            <a:r>
              <a:rPr lang="en-US" sz="3400" b="1" dirty="0">
                <a:solidFill>
                  <a:srgbClr val="F0A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exposure × consequence structure (after Halpern et al. 2008 / InVEST HRA): a location scores high only when valuable habitat and real pressure coincide.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383280"/>
            <a:ext cx="3703320" cy="1051560"/>
          </a:xfrm>
          <a:prstGeom prst="roundRect">
            <a:avLst>
              <a:gd name="adj" fmla="val 6087"/>
            </a:avLst>
          </a:prstGeom>
          <a:solidFill>
            <a:srgbClr val="12325A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3675888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3785616"/>
            <a:ext cx="237744" cy="23774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71600" y="3566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 (what’s at stake)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1371600" y="387705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Seagrass presence, weighted up to ~1.7× where dugong use is highest.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892040" y="3383280"/>
            <a:ext cx="3703320" cy="1051560"/>
          </a:xfrm>
          <a:prstGeom prst="roundRect">
            <a:avLst>
              <a:gd name="adj" fmla="val 6087"/>
            </a:avLst>
          </a:prstGeom>
          <a:solidFill>
            <a:srgbClr val="12325A"/>
          </a:solidFill>
          <a:ln/>
        </p:spPr>
      </p:sp>
      <p:sp>
        <p:nvSpPr>
          <p:cNvPr id="13" name="Shape 10"/>
          <p:cNvSpPr/>
          <p:nvPr/>
        </p:nvSpPr>
        <p:spPr>
          <a:xfrm>
            <a:off x="5111496" y="367588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1224" y="3785616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715000" y="3566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Threat  (what acts on it)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5715000" y="387705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weighted sum of five normalised 0–1 pressure factors.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  ·  VALUE LAYER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all seagrass is equally at stake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777240"/>
          </a:xfrm>
          <a:prstGeom prst="roundRect">
            <a:avLst>
              <a:gd name="adj" fmla="val 9412"/>
            </a:avLst>
          </a:prstGeom>
          <a:solidFill>
            <a:srgbClr val="F4F9F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8016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 =  SeagrassPresence  ×  (0.6  +  0.4 × DugongUse)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2304288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242316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25880" y="22860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Presence from classification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325880" y="2587752"/>
            <a:ext cx="7269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SeagrassPresence comes directly from the 2024 Random Forest output — no seagrass, no value.</a:t>
            </a:r>
            <a:endParaRPr lang="en-US" sz="1080" dirty="0"/>
          </a:p>
        </p:txBody>
      </p:sp>
      <p:sp>
        <p:nvSpPr>
          <p:cNvPr id="10" name="Shape 7"/>
          <p:cNvSpPr/>
          <p:nvPr/>
        </p:nvSpPr>
        <p:spPr>
          <a:xfrm>
            <a:off x="640080" y="3145536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326440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25880" y="31272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Dugong use, by distance-decay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325880" y="3429000"/>
            <a:ext cx="7269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continuous 0–1 surface built outward from documented high-density anchors: Marawah core, Bu Tinah, central foraging grounds.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640080" y="3986784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410565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25880" y="396849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Weighted, but never zero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325880" y="4270248"/>
            <a:ext cx="7269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Seagrass in a known dugong core is weighted up to ~1.7× more than at the reserve’s edge — yet every pixel keeps some value, since the whole AOI is prime habitat.</a:t>
            </a:r>
            <a:endParaRPr lang="en-US" sz="1080" dirty="0"/>
          </a:p>
        </p:txBody>
      </p:sp>
      <p:sp>
        <p:nvSpPr>
          <p:cNvPr id="18" name="Text 13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  ·  THREAT LAYER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weighted, justified factors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factor is normalised 0–1; distance factors use exp(−distance/λ) with factor-specific decay lengths (λ ≈ 3–5 km). Every weight is documented in RISK_METHODOLOGY.md.</a:t>
            </a:r>
            <a:endParaRPr lang="en-US" sz="1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80467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65760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Threat factor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Measured as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Weight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Observed seagrass loss (2019→2024)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Smoothed density of “loss” change pixels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1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0.30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Coastal development / dredging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Distance-decay from mapped development points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65A82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0.20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Thermal stress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Landsat summer surface temperature, water-masked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65A82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0.20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Desalination / industrial discharge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Distance-decay from mapped discharge points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65A82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0.15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Vessel / navigation pressure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Distance-decay from ports, landings, routes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65A82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0.15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carries the highest weight because measured decline is the strongest evidence of habitat already failing.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  ·  OUTPUT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105 ranked hotspots, not a generic map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5361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719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105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2140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hotspots ≥ 5 ha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2286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303580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18.5–7,049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58368" y="3520440"/>
            <a:ext cx="20665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hectare range across hotspots; dominant threats: vessels, development, loss</a:t>
            </a:r>
            <a:endParaRPr lang="en-US" sz="1000" dirty="0"/>
          </a:p>
        </p:txBody>
      </p:sp>
      <p:pic>
        <p:nvPicPr>
          <p:cNvPr id="10" name="Image 0" descr="C:\Users\Abdul\Documents\University\DUBAI\dugong-uae\D_dashboard\figures\C4_hotspot_ra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50015" y="1440180"/>
            <a:ext cx="5021410" cy="30632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MAP  ·  WHY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risk sits where it does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attributes every hotspot to a dominant driver. Across the top-ranked hotspots, two pressures stand out — and they line up with what the map shows.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8046720" cy="886968"/>
          </a:xfrm>
          <a:prstGeom prst="roundRect">
            <a:avLst>
              <a:gd name="adj" fmla="val 6186"/>
            </a:avLst>
          </a:prstGeom>
          <a:solidFill>
            <a:srgbClr val="F4F9FB"/>
          </a:solidFill>
          <a:ln/>
        </p:spPr>
      </p:sp>
      <p:sp>
        <p:nvSpPr>
          <p:cNvPr id="6" name="Shape 4"/>
          <p:cNvSpPr/>
          <p:nvPr/>
        </p:nvSpPr>
        <p:spPr>
          <a:xfrm>
            <a:off x="768096" y="2057400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167128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93852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Vessel pressure — the biggest zone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417320" y="2212848"/>
            <a:ext cx="7086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largest high-risk hotspot (7,184 ha) is vessel-dominated: the central navigation channel where propeller and grounding damage hit shallow foraging beds. It is the red streak visible on the dashboard.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48640" y="2788920"/>
            <a:ext cx="8046720" cy="886968"/>
          </a:xfrm>
          <a:prstGeom prst="roundRect">
            <a:avLst>
              <a:gd name="adj" fmla="val 6186"/>
            </a:avLst>
          </a:prstGeom>
          <a:solidFill>
            <a:srgbClr val="F4F9FB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301752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3127248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17320" y="289864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Observed loss — the heaviest weight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1417320" y="3172968"/>
            <a:ext cx="7086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2019→2024 seagrass decline carries the highest weight (0.30). Loss-dominated hotspots mark meadows already retreating, where intervention is most time-critical.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48640" y="3749040"/>
            <a:ext cx="8046720" cy="886968"/>
          </a:xfrm>
          <a:prstGeom prst="roundRect">
            <a:avLst>
              <a:gd name="adj" fmla="val 6186"/>
            </a:avLst>
          </a:prstGeom>
          <a:solidFill>
            <a:srgbClr val="F4F9FB"/>
          </a:solidFill>
          <a:ln/>
        </p:spPr>
      </p:sp>
      <p:sp>
        <p:nvSpPr>
          <p:cNvPr id="16" name="Shape 12"/>
          <p:cNvSpPr/>
          <p:nvPr/>
        </p:nvSpPr>
        <p:spPr>
          <a:xfrm>
            <a:off x="768096" y="3977640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087368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17320" y="385876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Coastal development — small but intense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1417320" y="4133088"/>
            <a:ext cx="7086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Development-dominated hotspots are smaller yet carry the highest mean-risk values (up to ~0.57), clustered along the developed south-east shoreline.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risk model trustworthy?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classifier accuracy, we ran three independent tests of whether the risk output is real signal — not an artefact of the parameters we chose.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587752" cy="2514600"/>
          </a:xfrm>
          <a:prstGeom prst="roundRect">
            <a:avLst>
              <a:gd name="adj" fmla="val 2909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" y="2112264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24028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44752" y="2203704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Face validity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68096" y="2843784"/>
            <a:ext cx="2167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mean risk fall with distance from a real discharge point, as the model’s own construction should produce?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68096" y="3776472"/>
            <a:ext cx="2148840" cy="457200"/>
          </a:xfrm>
          <a:prstGeom prst="roundRect">
            <a:avLst>
              <a:gd name="adj" fmla="val 10000"/>
            </a:avLst>
          </a:prstGeom>
          <a:solidFill>
            <a:srgbClr val="E3F2EC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3776472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~0.26 near, ~0.09–0.14 far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3319272" y="1874520"/>
            <a:ext cx="2587752" cy="2514600"/>
          </a:xfrm>
          <a:prstGeom prst="roundRect">
            <a:avLst>
              <a:gd name="adj" fmla="val 2909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538728" y="2112264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240280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215384" y="2203704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Zonal comparison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3538728" y="2843784"/>
            <a:ext cx="2167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mean risk inside the documented dugong core meaningfully higher than the reserve-wide average?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3538728" y="3776472"/>
            <a:ext cx="2148840" cy="457200"/>
          </a:xfrm>
          <a:prstGeom prst="roundRect">
            <a:avLst>
              <a:gd name="adj" fmla="val 10000"/>
            </a:avLst>
          </a:prstGeom>
          <a:solidFill>
            <a:srgbClr val="E3F2EC"/>
          </a:solidFill>
          <a:ln/>
        </p:spPr>
      </p:sp>
      <p:sp>
        <p:nvSpPr>
          <p:cNvPr id="18" name="Text 14"/>
          <p:cNvSpPr/>
          <p:nvPr/>
        </p:nvSpPr>
        <p:spPr>
          <a:xfrm>
            <a:off x="3593592" y="3776472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3× higher in the core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6089904" y="1874520"/>
            <a:ext cx="2587752" cy="2514600"/>
          </a:xfrm>
          <a:prstGeom prst="roundRect">
            <a:avLst>
              <a:gd name="adj" fmla="val 2909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309360" y="2112264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2240280"/>
            <a:ext cx="292608" cy="29260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986016" y="2203704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Weight sensitivity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6309360" y="2843784"/>
            <a:ext cx="2167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flagged hotspots survive perturbing each of the five weights by ±10%?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6309360" y="3776472"/>
            <a:ext cx="2148840" cy="457200"/>
          </a:xfrm>
          <a:prstGeom prst="roundRect">
            <a:avLst>
              <a:gd name="adj" fmla="val 10000"/>
            </a:avLst>
          </a:prstGeom>
          <a:solidFill>
            <a:srgbClr val="E3F2EC"/>
          </a:solidFill>
          <a:ln/>
        </p:spPr>
      </p:sp>
      <p:sp>
        <p:nvSpPr>
          <p:cNvPr id="25" name="Text 20"/>
          <p:cNvSpPr/>
          <p:nvPr/>
        </p:nvSpPr>
        <p:spPr>
          <a:xfrm>
            <a:off x="6364224" y="3776472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≤ 3% change in high-risk area</a:t>
            </a:r>
            <a:endParaRPr lang="en-US" sz="980" dirty="0"/>
          </a:p>
        </p:txBody>
      </p:sp>
      <p:sp>
        <p:nvSpPr>
          <p:cNvPr id="26" name="Text 21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 ·  ZONAL COMPARISON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targets where dugongs actually are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691640"/>
            <a:ext cx="3200400" cy="2194560"/>
          </a:xfrm>
          <a:prstGeom prst="roundRect">
            <a:avLst>
              <a:gd name="adj" fmla="val 4167"/>
            </a:avLst>
          </a:prstGeom>
          <a:solidFill>
            <a:srgbClr val="12325A"/>
          </a:solidFill>
          <a:ln/>
          <a:effectLst>
            <a:outerShdw sx="100000" sy="100000" kx="0" ky="0" algn="bl" rotWithShape="0" blurRad="101600" dist="25400" dir="27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9659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0A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0.461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1005840" y="2926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risk inside the documented dugong core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120640" y="1691640"/>
            <a:ext cx="3200400" cy="2194560"/>
          </a:xfrm>
          <a:prstGeom prst="roundRect">
            <a:avLst>
              <a:gd name="adj" fmla="val 4167"/>
            </a:avLst>
          </a:prstGeom>
          <a:solidFill>
            <a:srgbClr val="12325A"/>
          </a:solidFill>
          <a:ln/>
          <a:effectLst>
            <a:outerShdw sx="100000" sy="100000" kx="0" ky="0" algn="bl" rotWithShape="0" blurRad="101600" dist="25400" dir="2700000">
              <a:srgbClr val="000000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120640" y="19659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FC1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0.153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5303520" y="2926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risk across the whole study area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0" y="2423160"/>
            <a:ext cx="914400" cy="731520"/>
          </a:xfrm>
          <a:prstGeom prst="ellipse">
            <a:avLst/>
          </a:prstGeom>
          <a:solidFill>
            <a:srgbClr val="D7191C"/>
          </a:solidFill>
          <a:ln/>
          <a:effectLst>
            <a:outerShdw sx="100000" sy="100000" kx="0" ky="0" algn="bl" rotWithShape="0" blurRad="101600" dist="25400" dir="270000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114800" y="24231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3×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914400" y="4114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the result a correct model should produce: risk concentrates where valuable habitat and real pressure meet — not spread uniformly, and not at random.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 ·  WEIGHT SENSITIVITY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hotspots survive stress-testing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the five weights was perturbed ±0.10 (re-normalised to sum to 1.0) and the high-risk area recomputed. No perturbation moved it by more than 3% off the 10,681.5 ha baseline.</a:t>
            </a:r>
            <a:endParaRPr lang="en-US" sz="1250" dirty="0"/>
          </a:p>
        </p:txBody>
      </p:sp>
      <p:pic>
        <p:nvPicPr>
          <p:cNvPr id="5" name="Image 0" descr="C:\Users\Abdul\Documents\University\DUBAI\dugong-uae\D_dashboard\figures\C5_weight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4754880" cy="284353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23560" y="1920240"/>
            <a:ext cx="2971800" cy="2606040"/>
          </a:xfrm>
          <a:prstGeom prst="roundRect">
            <a:avLst>
              <a:gd name="adj" fmla="val 2807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852160" y="2103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5852160" y="2487168"/>
            <a:ext cx="2560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71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3% 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in high-risk area for any single-weight ±10% shift.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but equally defensible weighting would produce a similar ranking. The output is robust — not an artefact of one arbitrary set of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  ·  LIVE PROTOTYPE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output — an interactive risk map</a:t>
            </a:r>
            <a:endParaRPr lang="en-US" sz="2400" dirty="0"/>
          </a:p>
        </p:txBody>
      </p:sp>
      <p:pic>
        <p:nvPicPr>
          <p:cNvPr id="4" name="Image 0" descr="C:\Users\Abdul\AppData\Local\Temp\claude\C--Users-Abdul-Documents-University-HAck-Backend\4bc23196-3e33-4012-9b9c-627321c7a2e3\scratchpad\deck\dashboard_sh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4869180" cy="3246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599432"/>
            <a:ext cx="4869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C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Esri satellite basemap · Earth Engine risk tiles · Marawah / Bu Tinah AOI · 105 hotspot markers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6537960" y="1371600"/>
            <a:ext cx="2057400" cy="1005840"/>
          </a:xfrm>
          <a:prstGeom prst="roundRect">
            <a:avLst>
              <a:gd name="adj" fmla="val 5455"/>
            </a:avLst>
          </a:prstGeom>
          <a:solidFill>
            <a:srgbClr val="12325A"/>
          </a:solidFill>
          <a:ln/>
        </p:spPr>
      </p:sp>
      <p:sp>
        <p:nvSpPr>
          <p:cNvPr id="7" name="Text 4"/>
          <p:cNvSpPr/>
          <p:nvPr/>
        </p:nvSpPr>
        <p:spPr>
          <a:xfrm>
            <a:off x="6693408" y="148132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risk tiles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6693408" y="18288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blue→red gradient is the live Earth Engine risk model, not a static picture.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537960" y="2468880"/>
            <a:ext cx="2057400" cy="1005840"/>
          </a:xfrm>
          <a:prstGeom prst="roundRect">
            <a:avLst>
              <a:gd name="adj" fmla="val 5455"/>
            </a:avLst>
          </a:prstGeom>
          <a:solidFill>
            <a:srgbClr val="12325A"/>
          </a:solidFill>
          <a:ln/>
        </p:spPr>
      </p:sp>
      <p:sp>
        <p:nvSpPr>
          <p:cNvPr id="10" name="Text 7"/>
          <p:cNvSpPr/>
          <p:nvPr/>
        </p:nvSpPr>
        <p:spPr>
          <a:xfrm>
            <a:off x="6693408" y="257860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red streak = the driver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693408" y="29260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central Very-High corridor is the vessel channel — you can see the top hotspot’s cause.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537960" y="3566160"/>
            <a:ext cx="2057400" cy="1005840"/>
          </a:xfrm>
          <a:prstGeom prst="roundRect">
            <a:avLst>
              <a:gd name="adj" fmla="val 5455"/>
            </a:avLst>
          </a:prstGeom>
          <a:solidFill>
            <a:srgbClr val="12325A"/>
          </a:solidFill>
          <a:ln/>
        </p:spPr>
      </p:sp>
      <p:sp>
        <p:nvSpPr>
          <p:cNvPr id="13" name="Text 10"/>
          <p:cNvSpPr/>
          <p:nvPr/>
        </p:nvSpPr>
        <p:spPr>
          <a:xfrm>
            <a:off x="6693408" y="367588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non-experts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693408" y="402336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layers, click any hotspot for its rank, area, mean risk, and dominant threat.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MAP  ·  ACTION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risk to response: what the map enables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dominant driver points to a concrete, targeted intervention — and the ranking says where to do it first. These are recommendations the output supports, not actions taken.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950208" cy="1298448"/>
          </a:xfrm>
          <a:prstGeom prst="roundRect">
            <a:avLst>
              <a:gd name="adj" fmla="val 4225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" y="2020824"/>
            <a:ext cx="493776" cy="493776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39696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26464" y="1965960"/>
            <a:ext cx="2898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Vessel pressure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426464" y="227685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speed / no-wake zones and re-routing around the central foraging channel; targeted mooring-buoy placement.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36592" y="1783080"/>
            <a:ext cx="3950208" cy="1298448"/>
          </a:xfrm>
          <a:prstGeom prst="roundRect">
            <a:avLst>
              <a:gd name="adj" fmla="val 4225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956048" y="2020824"/>
            <a:ext cx="493776" cy="493776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139696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14416" y="1965960"/>
            <a:ext cx="2898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Observed loss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5614416" y="227685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monitoring and seagrass restoration on loss-dominated hotspots; re-run change detection to track recovery.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48640" y="3264408"/>
            <a:ext cx="3950208" cy="1298448"/>
          </a:xfrm>
          <a:prstGeom prst="roundRect">
            <a:avLst>
              <a:gd name="adj" fmla="val 4225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68096" y="3502152"/>
            <a:ext cx="493776" cy="493776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621024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26464" y="3447288"/>
            <a:ext cx="2898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Coastal development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1426464" y="3758184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dredging permits and set buffer zones around the high-value hotspots nearest the shore.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4736592" y="3264408"/>
            <a:ext cx="3950208" cy="1298448"/>
          </a:xfrm>
          <a:prstGeom prst="roundRect">
            <a:avLst>
              <a:gd name="adj" fmla="val 4225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956048" y="3502152"/>
            <a:ext cx="493776" cy="493776"/>
          </a:xfrm>
          <a:prstGeom prst="ellipse">
            <a:avLst/>
          </a:prstGeom>
          <a:solidFill>
            <a:srgbClr val="D7191C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362102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614416" y="3447288"/>
            <a:ext cx="2898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Thermal &amp; discharge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5614416" y="3758184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 into siting of new desalination / industrial outfalls; protect cooler thermal-refuge meadows.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IT’S DIFFERENT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beats a survey or generic index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804672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481328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habitat survey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063240" y="1371600"/>
            <a:ext cx="365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474720" y="146304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living monitoring baseline  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Re-runs on new imagery at ~zero marginal cost — tracks whether hotspots stabilise or worsen.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212848"/>
            <a:ext cx="804672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322576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seagrass extent map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063240" y="2212848"/>
            <a:ext cx="365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474720" y="230428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conditioned on dugong use  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Shows where loss would matter for dugongs, not just where seagrass happens to be.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054096"/>
            <a:ext cx="804672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3163824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environmental index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063240" y="3054096"/>
            <a:ext cx="365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474720" y="314553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× threat, both explicit  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Only scores high where habitat value and real pressure coincide — and every weight is documented.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895344"/>
            <a:ext cx="804672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7240" y="4005072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 model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063240" y="3895344"/>
            <a:ext cx="365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474720" y="398678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Audited &amp; stress-tested  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Three validation checks; every weight perturbed ±10%; all code and data reproducible.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 ·  LOCAL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Abu Dhabi: an evidence-based start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960120"/>
          </a:xfrm>
          <a:prstGeom prst="roundRect">
            <a:avLst>
              <a:gd name="adj" fmla="val 6667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73352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783080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563624"/>
            <a:ext cx="7040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Prioritised action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417320" y="1874520"/>
            <a:ext cx="7086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105 concrete locations by habitat value × real pressure — directly informs where a boundary review, dredging permit condition, or monitoring buoy should go first.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468880"/>
            <a:ext cx="8046720" cy="960120"/>
          </a:xfrm>
          <a:prstGeom prst="roundRect">
            <a:avLst>
              <a:gd name="adj" fmla="val 6667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77240" y="2724912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834640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17320" y="2615184"/>
            <a:ext cx="7040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repeatable baseline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417320" y="2926080"/>
            <a:ext cx="7086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free, continuously updated imagery — re-run in any future year at near-zero cost to track whether hotspots are stabilising or worsening.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520440"/>
            <a:ext cx="8046720" cy="960120"/>
          </a:xfrm>
          <a:prstGeom prst="roundRect">
            <a:avLst>
              <a:gd name="adj" fmla="val 6667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77240" y="3776472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886200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3666744"/>
            <a:ext cx="7040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Serves the reserve’s mandate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1417320" y="3977640"/>
            <a:ext cx="7086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3× zonal finding gives Marawah’s UNESCO / MPA evidence-based mandate a concrete, quantified starting point — not just “the core matters.”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 ·  REGIONAL &amp; GLOBAL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reusable model, not a one-off map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exposure × consequence structure, the threat factors, and the validation approach are not specific to seagrass or the Arabian Gulf.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587752" cy="2423160"/>
          </a:xfrm>
          <a:prstGeom prst="roundRect">
            <a:avLst>
              <a:gd name="adj" fmla="val 3019"/>
            </a:avLst>
          </a:prstGeom>
          <a:solidFill>
            <a:srgbClr val="12325A"/>
          </a:solidFill>
          <a:ln/>
        </p:spPr>
      </p:sp>
      <p:sp>
        <p:nvSpPr>
          <p:cNvPr id="6" name="Shape 4"/>
          <p:cNvSpPr/>
          <p:nvPr/>
        </p:nvSpPr>
        <p:spPr>
          <a:xfrm>
            <a:off x="768096" y="2249424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36829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68096" y="2907792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Transferable structure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68096" y="3383280"/>
            <a:ext cx="2167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a habitat-value layer with a weighted, distance-decayed threat overlay, validate against ground truth, stress-test the weights — applies to any satellite-visible, single-species habitat.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319272" y="2011680"/>
            <a:ext cx="2587752" cy="2423160"/>
          </a:xfrm>
          <a:prstGeom prst="roundRect">
            <a:avLst>
              <a:gd name="adj" fmla="val 3019"/>
            </a:avLst>
          </a:prstGeom>
          <a:solidFill>
            <a:srgbClr val="12325A"/>
          </a:solidFill>
          <a:ln/>
        </p:spPr>
      </p:sp>
      <p:sp>
        <p:nvSpPr>
          <p:cNvPr id="11" name="Shape 8"/>
          <p:cNvSpPr/>
          <p:nvPr/>
        </p:nvSpPr>
        <p:spPr>
          <a:xfrm>
            <a:off x="3538728" y="2249424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368296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38728" y="2907792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species &amp; regions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3538728" y="3383280"/>
            <a:ext cx="2167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Dugongs elsewhere in the Indo-Pacific, manatee seagrass in the Americas, or any coastal species tied to a mappable habitat type.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089904" y="2011680"/>
            <a:ext cx="2587752" cy="2423160"/>
          </a:xfrm>
          <a:prstGeom prst="roundRect">
            <a:avLst>
              <a:gd name="adj" fmla="val 3019"/>
            </a:avLst>
          </a:prstGeom>
          <a:solidFill>
            <a:srgbClr val="12325A"/>
          </a:solidFill>
          <a:ln/>
        </p:spPr>
      </p:sp>
      <p:sp>
        <p:nvSpPr>
          <p:cNvPr id="16" name="Shape 12"/>
          <p:cNvSpPr/>
          <p:nvPr/>
        </p:nvSpPr>
        <p:spPr>
          <a:xfrm>
            <a:off x="6309360" y="2249424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2368296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09360" y="2907792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tools lower the barrier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6309360" y="3383280"/>
            <a:ext cx="2167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Sentinel-2 / Landsat via Earth Engine + open-source Python. The barrier to adoption is know-how, not cost or licensing — key for lower-resource programmes.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 ·  SCALING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Scaling: same pipeline, wider reach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every input is free and every step is code, scaling is a matter of pointing the pipeline at more area, more years, or another species — not buying more data.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587752" cy="2514600"/>
          </a:xfrm>
          <a:prstGeom prst="roundRect">
            <a:avLst>
              <a:gd name="adj" fmla="val 2909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76756" y="2130552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0492" y="2313432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008376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Geographic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49808" y="3355848"/>
            <a:ext cx="21854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from the AOI to all of Abu Dhabi’s coast, the wider Arabian Gulf, and other dugong / manatee habitats in the Indo-Pacific and Americas — no new data cost.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319272" y="1874520"/>
            <a:ext cx="2587752" cy="2514600"/>
          </a:xfrm>
          <a:prstGeom prst="roundRect">
            <a:avLst>
              <a:gd name="adj" fmla="val 2909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247388" y="2130552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124" y="2313432"/>
            <a:ext cx="384048" cy="3840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410712" y="3008376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520440" y="3355848"/>
            <a:ext cx="21854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each year as new imagery lands, turning a one-off assessment into a continuous monitoring baseline; the change-detection step is already built for it.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089904" y="1874520"/>
            <a:ext cx="2587752" cy="2514600"/>
          </a:xfrm>
          <a:prstGeom prst="roundRect">
            <a:avLst>
              <a:gd name="adj" fmla="val 2909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018020" y="2130552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1756" y="2313432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181344" y="3008376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Operational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291072" y="3355848"/>
            <a:ext cx="21854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as a scheduled Earth Engine job and hand the dashboard to EAD; ingest official GIS layers to replace the schematic inputs.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 ·  AUTOMATION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AI pipeline that updates itself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the pipeline is re-run by hand. The next step closes the loop: new imagery in, refreshed risk maps out — no manual intervention.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874520" cy="2148840"/>
          </a:xfrm>
          <a:prstGeom prst="roundRect">
            <a:avLst>
              <a:gd name="adj" fmla="val 3902"/>
            </a:avLst>
          </a:prstGeom>
          <a:solidFill>
            <a:srgbClr val="12325A"/>
          </a:solidFill>
          <a:ln/>
        </p:spPr>
      </p:sp>
      <p:sp>
        <p:nvSpPr>
          <p:cNvPr id="6" name="Shape 4"/>
          <p:cNvSpPr/>
          <p:nvPr/>
        </p:nvSpPr>
        <p:spPr>
          <a:xfrm>
            <a:off x="1120140" y="2249424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3876" y="2432304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10896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94944" y="3438144"/>
            <a:ext cx="1581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watches for new Sentinel-2 scenes as they land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395728" y="2811780"/>
            <a:ext cx="237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7293"/>
                </a:solidFill>
              </a:rPr>
              <a:t>›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2606040" y="2011680"/>
            <a:ext cx="1874520" cy="2148840"/>
          </a:xfrm>
          <a:prstGeom prst="roundRect">
            <a:avLst>
              <a:gd name="adj" fmla="val 3902"/>
            </a:avLst>
          </a:prstGeom>
          <a:solidFill>
            <a:srgbClr val="12325A"/>
          </a:solidFill>
          <a:ln/>
        </p:spPr>
      </p:sp>
      <p:sp>
        <p:nvSpPr>
          <p:cNvPr id="12" name="Shape 9"/>
          <p:cNvSpPr/>
          <p:nvPr/>
        </p:nvSpPr>
        <p:spPr>
          <a:xfrm>
            <a:off x="3177540" y="2249424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6" y="2432304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697480" y="310896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2752344" y="3438144"/>
            <a:ext cx="1581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Classifies seagrass and recomputes the risk model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4453128" y="2811780"/>
            <a:ext cx="237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7293"/>
                </a:solidFill>
              </a:rPr>
              <a:t>›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4663440" y="2011680"/>
            <a:ext cx="1874520" cy="2148840"/>
          </a:xfrm>
          <a:prstGeom prst="roundRect">
            <a:avLst>
              <a:gd name="adj" fmla="val 3902"/>
            </a:avLst>
          </a:prstGeom>
          <a:solidFill>
            <a:srgbClr val="12325A"/>
          </a:solidFill>
          <a:ln/>
        </p:spPr>
      </p:sp>
      <p:sp>
        <p:nvSpPr>
          <p:cNvPr id="18" name="Shape 14"/>
          <p:cNvSpPr/>
          <p:nvPr/>
        </p:nvSpPr>
        <p:spPr>
          <a:xfrm>
            <a:off x="5234940" y="2249424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8676" y="2432304"/>
            <a:ext cx="384048" cy="38404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754880" y="310896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4809744" y="3438144"/>
            <a:ext cx="1581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Regenerates the risk and 2019–2024 change maps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6510528" y="2811780"/>
            <a:ext cx="237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7293"/>
                </a:solidFill>
              </a:rPr>
              <a:t>›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6720840" y="2011680"/>
            <a:ext cx="1874520" cy="2148840"/>
          </a:xfrm>
          <a:prstGeom prst="roundRect">
            <a:avLst>
              <a:gd name="adj" fmla="val 3902"/>
            </a:avLst>
          </a:prstGeom>
          <a:solidFill>
            <a:srgbClr val="12325A"/>
          </a:solidFill>
          <a:ln/>
        </p:spPr>
      </p:sp>
      <p:sp>
        <p:nvSpPr>
          <p:cNvPr id="24" name="Shape 19"/>
          <p:cNvSpPr/>
          <p:nvPr/>
        </p:nvSpPr>
        <p:spPr>
          <a:xfrm>
            <a:off x="7292340" y="2249424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6076" y="2432304"/>
            <a:ext cx="384048" cy="38404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812280" y="310896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Refresh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6867144" y="3438144"/>
            <a:ext cx="1581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updates automatically for users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548640" y="44348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C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 one-off assessment into a continuously updated monitoring tool, at effectively zero marginal cost.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 ·  IN-DASHBOARD 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AI assistant inside the dashboard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map into a conversation: the assistant summarises results in plain language and explains why an area is flagged.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4F9FB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514600" y="2011680"/>
            <a:ext cx="3246120" cy="457200"/>
          </a:xfrm>
          <a:prstGeom prst="roundRect">
            <a:avLst>
              <a:gd name="adj" fmla="val 20000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2514600" y="20116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this area high-risk?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2697480"/>
            <a:ext cx="49834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83464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It’s in the top risk class because it sits in the main </a:t>
            </a:r>
            <a:pPr indent="0" marL="0">
              <a:buNone/>
            </a:pPr>
            <a:r>
              <a:rPr lang="en-US" sz="1150" b="1" dirty="0">
                <a:solidFill>
                  <a:srgbClr val="D71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navigation corridor</a:t>
            </a:r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(its dominant threat), overlaps documented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foraging grounds</a:t>
            </a:r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shows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seagrass loss (2019–2024)</a:t>
            </a:r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factors the model weights most heavily.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F4F9FB"/>
          </a:solidFill>
          <a:ln/>
        </p:spPr>
      </p:sp>
      <p:sp>
        <p:nvSpPr>
          <p:cNvPr id="11" name="Shape 9"/>
          <p:cNvSpPr/>
          <p:nvPr/>
        </p:nvSpPr>
        <p:spPr>
          <a:xfrm>
            <a:off x="6327648" y="196596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7376" y="2075688"/>
            <a:ext cx="237744" cy="23774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903720" y="1901952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Plain language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903720" y="21762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Summarises the map for non-technical staff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172200" y="2715768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F4F9FB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289864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7376" y="3008376"/>
            <a:ext cx="237744" cy="23774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903720" y="283464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 in the model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6903720" y="310896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Cites the real drivers behind each score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6172200" y="3648456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F4F9FB"/>
          </a:solidFill>
          <a:ln/>
        </p:spPr>
      </p:sp>
      <p:sp>
        <p:nvSpPr>
          <p:cNvPr id="21" name="Shape 17"/>
          <p:cNvSpPr/>
          <p:nvPr/>
        </p:nvSpPr>
        <p:spPr>
          <a:xfrm>
            <a:off x="6327648" y="3831336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3941064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903720" y="376732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Actionable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6903720" y="4041648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to what to check or protect next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548640" y="452628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concept — the answer is generated from the model’s real drivers, not a canned response.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is — and what it isn’t, yet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 limitations section is part of the design philosophy, not a formality. Stated plainly: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950208" cy="1298448"/>
          </a:xfrm>
          <a:prstGeom prst="roundRect">
            <a:avLst>
              <a:gd name="adj" fmla="val 4225"/>
            </a:avLst>
          </a:prstGeom>
          <a:solidFill>
            <a:srgbClr val="F4F9F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892808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07008" y="1856232"/>
            <a:ext cx="3127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Threat data is partly schematic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68096" y="2295144"/>
            <a:ext cx="3529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Built-infrastructure coordinates are real and verified; reserve boundary, dugong-density surface, and vessel routes are documented approximations pending official EAD GIS layers.</a:t>
            </a:r>
            <a:endParaRPr lang="en-US" sz="980" dirty="0"/>
          </a:p>
        </p:txBody>
      </p:sp>
      <p:sp>
        <p:nvSpPr>
          <p:cNvPr id="9" name="Shape 6"/>
          <p:cNvSpPr/>
          <p:nvPr/>
        </p:nvSpPr>
        <p:spPr>
          <a:xfrm>
            <a:off x="4736592" y="1691640"/>
            <a:ext cx="3950208" cy="1298448"/>
          </a:xfrm>
          <a:prstGeom prst="roundRect">
            <a:avLst>
              <a:gd name="adj" fmla="val 4225"/>
            </a:avLst>
          </a:prstGeom>
          <a:solidFill>
            <a:srgbClr val="F4F9FB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1892808"/>
            <a:ext cx="292608" cy="2926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94960" y="1856232"/>
            <a:ext cx="3127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known training-data gap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4956048" y="2295144"/>
            <a:ext cx="3529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pagination bug truncated non-seagrass training polygons to 171 of the true 319. The download code is fixed; results shown were trained on the smaller set — retraining is a known next step.</a:t>
            </a:r>
            <a:endParaRPr lang="en-US" sz="980" dirty="0"/>
          </a:p>
        </p:txBody>
      </p:sp>
      <p:sp>
        <p:nvSpPr>
          <p:cNvPr id="13" name="Shape 9"/>
          <p:cNvSpPr/>
          <p:nvPr/>
        </p:nvSpPr>
        <p:spPr>
          <a:xfrm>
            <a:off x="548640" y="3172968"/>
            <a:ext cx="3950208" cy="1298448"/>
          </a:xfrm>
          <a:prstGeom prst="roundRect">
            <a:avLst>
              <a:gd name="adj" fmla="val 4225"/>
            </a:avLst>
          </a:prstGeom>
          <a:solidFill>
            <a:srgbClr val="F4F9F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337413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07008" y="3337560"/>
            <a:ext cx="3127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Relative risk, not absolute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768096" y="3776472"/>
            <a:ext cx="3529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index ranks locations within the study area against each other; it is not a calibrated probability of habitat loss.</a:t>
            </a:r>
            <a:endParaRPr lang="en-US" sz="980" dirty="0"/>
          </a:p>
        </p:txBody>
      </p:sp>
      <p:sp>
        <p:nvSpPr>
          <p:cNvPr id="17" name="Shape 12"/>
          <p:cNvSpPr/>
          <p:nvPr/>
        </p:nvSpPr>
        <p:spPr>
          <a:xfrm>
            <a:off x="4736592" y="3172968"/>
            <a:ext cx="3950208" cy="1298448"/>
          </a:xfrm>
          <a:prstGeom prst="roundRect">
            <a:avLst>
              <a:gd name="adj" fmla="val 4225"/>
            </a:avLst>
          </a:prstGeom>
          <a:solidFill>
            <a:srgbClr val="F4F9FB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048" y="337413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394960" y="3337560"/>
            <a:ext cx="3127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field validation yet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4956048" y="3776472"/>
            <a:ext cx="3529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validation shows the method behaves sensibly; it does not confirm any individual hotspot’s on-the-ground condition. That needs a site visit or independent survey.</a:t>
            </a:r>
            <a:endParaRPr lang="en-US" sz="980" dirty="0"/>
          </a:p>
        </p:txBody>
      </p:sp>
      <p:sp>
        <p:nvSpPr>
          <p:cNvPr id="21" name="Text 15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prototype to deployed tool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950208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645920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764792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950208" y="1481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CE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444752" y="1591056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Integrate official EAD GIS layers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444752" y="2048256"/>
            <a:ext cx="2852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schematic boundaries and surfaces with authoritative data — sharpens output without changing the method.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36592" y="1371600"/>
            <a:ext cx="3950208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956048" y="1645920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764792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138160" y="1481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CE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5632704" y="1591056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Retrain on the full 319-polygon set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5632704" y="2048256"/>
            <a:ext cx="2852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the fixed download and retrain the classifier to close the known training-data gap.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48640" y="2944368"/>
            <a:ext cx="3950208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68096" y="3218688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33756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950208" y="30540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CE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5"/>
          <p:cNvSpPr/>
          <p:nvPr/>
        </p:nvSpPr>
        <p:spPr>
          <a:xfrm>
            <a:off x="1444752" y="3163824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Field-validate top hotspots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1444752" y="3621024"/>
            <a:ext cx="2852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Ground-truth a sample of ranked hotspots against recent survey data or a site visit.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736592" y="2944368"/>
            <a:ext cx="3950208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956048" y="3218688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3337560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8138160" y="30540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CE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0"/>
          <p:cNvSpPr/>
          <p:nvPr/>
        </p:nvSpPr>
        <p:spPr>
          <a:xfrm>
            <a:off x="5632704" y="3163824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Co-design with the agencies</a:t>
            </a:r>
            <a:endParaRPr lang="en-US" sz="1350" dirty="0"/>
          </a:p>
        </p:txBody>
      </p:sp>
      <p:sp>
        <p:nvSpPr>
          <p:cNvPr id="27" name="Text 21"/>
          <p:cNvSpPr/>
          <p:nvPr/>
        </p:nvSpPr>
        <p:spPr>
          <a:xfrm>
            <a:off x="5632704" y="3621024"/>
            <a:ext cx="2852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the dashboard in front of the regulators and researchers who’d use it, and act on what “actionable” means to them.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548640" y="4800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2651760"/>
            <a:ext cx="3840480" cy="3840480"/>
          </a:xfrm>
          <a:prstGeom prst="ellipse">
            <a:avLst/>
          </a:prstGeom>
          <a:solidFill>
            <a:srgbClr val="0E2A4C"/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-1280160"/>
            <a:ext cx="3291840" cy="3291840"/>
          </a:xfrm>
          <a:prstGeom prst="ellipse">
            <a:avLst/>
          </a:prstGeom>
          <a:solidFill>
            <a:srgbClr val="12325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658368" y="1097280"/>
            <a:ext cx="731520" cy="731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920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pixels to protection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58368" y="288036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reproducible, evidence-based way to rank where dugong conservation effort matters most — </a:t>
            </a:r>
            <a:pPr indent="0" marL="0">
              <a:buNone/>
            </a:pPr>
            <a:r>
              <a:rPr lang="en-US" sz="1600" b="1" dirty="0">
                <a:solidFill>
                  <a:srgbClr val="8FC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entirely on free satellite data and open, auditable methodology.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85800" y="4315968"/>
            <a:ext cx="201168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44348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 ·  Prototypes for Humanity 2026  ·  Marawah / Bu Tinah, Abu Dhabi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Dugong Watch — Seagrass Habitat Risk Mapping</dc:title>
  <dc:subject>PptxGenJS Presentation</dc:subject>
  <dc:creator>Dugong Watch Team</dc:creator>
  <cp:lastModifiedBy>Dugong Watch Team</cp:lastModifiedBy>
  <cp:revision>1</cp:revision>
  <dcterms:created xsi:type="dcterms:W3CDTF">2026-07-06T13:39:17Z</dcterms:created>
  <dcterms:modified xsi:type="dcterms:W3CDTF">2026-07-06T13:39:17Z</dcterms:modified>
</cp:coreProperties>
</file>