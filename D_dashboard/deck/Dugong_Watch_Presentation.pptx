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097280"/>
            <a:ext cx="3840480" cy="3840480"/>
          </a:xfrm>
          <a:prstGeom prst="ellipse">
            <a:avLst/>
          </a:prstGeom>
          <a:solidFill>
            <a:srgbClr val="12325A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834640"/>
            <a:ext cx="2743200" cy="2743200"/>
          </a:xfrm>
          <a:prstGeom prst="ellipse">
            <a:avLst/>
          </a:prstGeom>
          <a:solidFill>
            <a:srgbClr val="0E2A4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658368" y="12344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574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DUGONG WATCH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58368" y="3063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Habitat Risk Mapping for Dugong Conservation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58368" y="358444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Marawah / Bu Tinah Marine Biosphere Reserve  —  Abu Dhabi, UAE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4315968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for Humanity 2026  ·  Final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pixels to ranked priorities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turns free satellite imagery into a transparent, ranked map of where dugong seagrass habitat is both valuable and under real pressure.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48256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85.3%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04088" y="263347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classification accuracy (balanced Random Forest)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9272" y="1920240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2048256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474720" y="263347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risk hotspots identified (≥ 5 ha)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89904" y="1920240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35624" y="2048256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D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245352" y="2633472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mean risk inside the dugong core vs. reserve-wide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19856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547872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704088" y="413308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threat factors combined into one weighted index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19272" y="3419856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64992" y="3547872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774.6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3474720" y="413308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km² study area, entirely inside the biosphere reserve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9904" y="3419856"/>
            <a:ext cx="2587752" cy="1298448"/>
          </a:xfrm>
          <a:prstGeom prst="roundRect">
            <a:avLst>
              <a:gd name="adj" fmla="val 493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35624" y="3547872"/>
            <a:ext cx="2496312" cy="56692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6245352" y="413308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data cost — free Sentinel-2 / Landsat imagery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walk 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55064"/>
            <a:ext cx="457200" cy="457200"/>
          </a:xfrm>
          <a:prstGeom prst="ellipse">
            <a:avLst/>
          </a:prstGeom>
          <a:solidFill>
            <a:srgbClr val="D7191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76479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54533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The problem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89888" y="184708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dugong habitat needs a risk map, and why one doesn’t exist yet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36592" y="141732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37760" y="165506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1764792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54533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The pipeline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577840" y="184708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five tracks turn imagery into a ranked, auditable output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51460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275234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862072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264261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Classification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89888" y="294436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seagrass from Sentinel-2 with a validated ML model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736592" y="251460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37760" y="275234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862072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64261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Risk modelling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577840" y="294436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habitat value with five weighted threat factors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61188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384962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959352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89888" y="373989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 Validation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389888" y="404164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checks that the risk output is trustworthy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736592" y="3611880"/>
            <a:ext cx="39502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937760" y="38496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959352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77840" y="3739896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 Impact &amp; limits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5577840" y="4041648"/>
            <a:ext cx="29900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enables locally and globally — and what it is not, yet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globally significant population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3,000–3,500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76072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in Abu Dhabi waters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6072" y="32461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second-largest dugong population on Earth</a:t>
            </a:r>
            <a:pPr indent="0" marL="0">
              <a:buNone/>
            </a:pPr>
            <a:r>
              <a:rPr lang="en-US" sz="13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after Australia — concentrated in the Marawah / Bu Tinah region and recognised by UNESCO as a Man and the Biosphere reserve.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12325A"/>
          </a:solidFill>
          <a:ln/>
        </p:spPr>
      </p:sp>
      <p:sp>
        <p:nvSpPr>
          <p:cNvPr id="8" name="Shape 6"/>
          <p:cNvSpPr/>
          <p:nvPr/>
        </p:nvSpPr>
        <p:spPr>
          <a:xfrm>
            <a:off x="4864608" y="1938528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5192" y="2039112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40680" y="18196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Vulnerable (IUCN)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40680" y="2112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dugong is the only strictly herbivorous marine mammal, and is listed as Vulnerable to extinction globally.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2724912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12325A"/>
          </a:solidFill>
          <a:ln/>
        </p:spPr>
      </p:sp>
      <p:sp>
        <p:nvSpPr>
          <p:cNvPr id="13" name="Shape 10"/>
          <p:cNvSpPr/>
          <p:nvPr/>
        </p:nvSpPr>
        <p:spPr>
          <a:xfrm>
            <a:off x="4864608" y="2971800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307238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2852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UNESCO biosphere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440680" y="3145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Marawah is the UAE’s first UNESCO Man &amp; Biosphere reserve, and a designated Marine Protected Area.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3758184"/>
            <a:ext cx="3931920" cy="932688"/>
          </a:xfrm>
          <a:prstGeom prst="roundRect">
            <a:avLst>
              <a:gd name="adj" fmla="val 5882"/>
            </a:avLst>
          </a:prstGeom>
          <a:solidFill>
            <a:srgbClr val="12325A"/>
          </a:solidFill>
          <a:ln/>
        </p:spPr>
      </p:sp>
      <p:sp>
        <p:nvSpPr>
          <p:cNvPr id="18" name="Shape 14"/>
          <p:cNvSpPr/>
          <p:nvPr/>
        </p:nvSpPr>
        <p:spPr>
          <a:xfrm>
            <a:off x="4864608" y="4005072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410565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40680" y="3886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Shallow, warm waters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440680" y="4178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forage in waters under ~5 m deep, in one of the hottest, most rapidly developing seas on Earth.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Survival hangs on one resource: seagrass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feed almost exclusively on seagrass meadows. Protect the seagrass and you protect the dugong; lose it and the population has nowhere to go. That makes seagrass the single most decision-relevant thing to map — and to protect.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17904" y="258775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788920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346557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 seagrass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" y="37581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meadows in shallow Gulf waters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163824" y="29032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</a:rPr>
              <a:t>›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3648456" y="233172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2587752"/>
            <a:ext cx="768096" cy="76809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788920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58184" y="346557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Feeds the dugong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85616" y="37581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adult grazes ~30 kg of seagrass daily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153912" y="29032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</a:rPr>
              <a:t>›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6638544" y="2331720"/>
            <a:ext cx="2487168" cy="1783080"/>
          </a:xfrm>
          <a:prstGeom prst="roundRect">
            <a:avLst>
              <a:gd name="adj" fmla="val 4103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98080" y="2587752"/>
            <a:ext cx="768096" cy="768096"/>
          </a:xfrm>
          <a:prstGeom prst="ellipse">
            <a:avLst/>
          </a:prstGeom>
          <a:solidFill>
            <a:srgbClr val="D7191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788920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48272" y="346557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Sustains the population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775704" y="375818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seagrass → no foraging → no dugongs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measurable pressures on the habitat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512064" cy="512064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1579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Coastal development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49808" y="2414016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Dredging and land reclamation directly bury or smother meadows.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246120" y="137160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7288" y="1572768"/>
            <a:ext cx="512064" cy="512064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916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7288" y="21579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Desalination &amp; discharge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447288" y="2414016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Brine and industrial outfall raise salinity and temperature locally.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5943600" y="1371600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4768" y="1572768"/>
            <a:ext cx="512064" cy="512064"/>
          </a:xfrm>
          <a:prstGeom prst="ellipse">
            <a:avLst/>
          </a:prstGeom>
          <a:solidFill>
            <a:srgbClr val="D7191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44768" y="21579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Marine heat stress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144768" y="2414016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Gulf is among the hottest seas on Earth; heatwaves bleach seagrass.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1897380" y="2990088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98548" y="3191256"/>
            <a:ext cx="512064" cy="512064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7420" y="331012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98548" y="3776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Vessel pressure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2098548" y="4032504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Propeller scarring and groundings damage shallow foraging beds.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594860" y="2990088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96028" y="319125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0" y="331012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96028" y="3776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loss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796028" y="4032504"/>
            <a:ext cx="2130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seagrass decline between 2019 and 2024 from imagery itself.</a:t>
            </a:r>
            <a:endParaRPr lang="en-US" sz="980" dirty="0"/>
          </a:p>
        </p:txBody>
      </p:sp>
      <p:sp>
        <p:nvSpPr>
          <p:cNvPr id="29" name="Text 22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no existing tool answers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173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D7E6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simply “where is there seagrass,” but </a:t>
            </a:r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seagrass both present and under enough pressure that its loss would matter for dugong survival?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it means combining three things that are rarely brought together: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2587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31912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3300984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191256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Habitat maps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" y="3630168"/>
            <a:ext cx="2167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seagrass exists — but surveys are episodic and expensive to run at scale.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19272" y="2971800"/>
            <a:ext cx="2587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20440" y="31912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3300984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96512" y="3191256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over time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38728" y="3630168"/>
            <a:ext cx="2167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it is being lost — rarely tracked consistently across years.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9904" y="2971800"/>
            <a:ext cx="258775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91072" y="319125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300984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67144" y="3191256"/>
            <a:ext cx="1673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data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309360" y="3630168"/>
            <a:ext cx="2167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pressures act where — scattered across non-standardised sources.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tracks, each feeding the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26771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GEE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imagery, cloud masking, 14-band feature stack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057400" y="28117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9456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19456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08" y="2267712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6771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Classification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28600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seagrass mapping, 85.3% accuracy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703320" y="28117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384048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384048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2267712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1363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Modelling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93192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threat overlay, 105 ranked hotspots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349240" y="28117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548640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48640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748" y="2267712"/>
            <a:ext cx="512064" cy="5120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5955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7784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risk map for stakeholders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995160" y="281178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›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7132320" y="1737360"/>
            <a:ext cx="1508760" cy="260604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7132320" y="1865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0668" y="2267712"/>
            <a:ext cx="512064" cy="5120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05472" y="2926080"/>
            <a:ext cx="13624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7223760" y="342900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methodology, impact, limitations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Owner-per-track structure keeps every stage independently reviewable and reproducible.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area and data 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774.6 km²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covering the Marawah / Bu Tinah region (lon 52.98–53.32, lat 24.19–24.48), falling entirely inside the Marawah Marine Biosphere Reserve.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7510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7568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89280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Sentinel-2 Surface Reflectance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353312" y="2176272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Level-2A, cloud-masked (QA60), median-composited per year. 222 scenes built the 2024 composite. 2019 &amp; 2024 compared.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</p:spPr>
      </p:sp>
      <p:sp>
        <p:nvSpPr>
          <p:cNvPr id="11" name="Shape 8"/>
          <p:cNvSpPr/>
          <p:nvPr/>
        </p:nvSpPr>
        <p:spPr>
          <a:xfrm>
            <a:off x="749808" y="287121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97180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53312" y="278892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Landsat 8/9 thermal (ST_B10)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353312" y="3072384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surface temperature (Jun–Sep), converted to °C, water-masked so hot dry land can’t skew the thermal signal.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575304"/>
            <a:ext cx="8046720" cy="82296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</p:spPr>
      </p:sp>
      <p:sp>
        <p:nvSpPr>
          <p:cNvPr id="16" name="Shape 12"/>
          <p:cNvSpPr/>
          <p:nvPr/>
        </p:nvSpPr>
        <p:spPr>
          <a:xfrm>
            <a:off x="749808" y="376732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867912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68503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EAD habitat vector data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353312" y="3968496"/>
            <a:ext cx="7086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seagrass + 171 non-seagrass training polygons; a separate 118-polygon reference layer; a 1,954-polygon regional context layer.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free and public — no proprietary or purchased imagery anywhere in the pipeline.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 · 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bands to a 14-feature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annual composite is reduced to 14 predictor features per 10 m pixel — ten raw Sentinel-2 bands plus four spectral indices that sharpen the water–vegetation distinction seagrass classification depends 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977640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raw Sentinel-2 bands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(blue)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256032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(green)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(red)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92608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(red edge)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(red edge)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329184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(red edge)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 (NIR)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36576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B8A (narrow NIR)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 (SWIR)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40233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 (SWIR)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965960"/>
            <a:ext cx="3886200" cy="2514600"/>
          </a:xfrm>
          <a:prstGeom prst="roundRect">
            <a:avLst>
              <a:gd name="adj" fmla="val 2909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derived spectral indices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25786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5786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vegetation vigour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NDWI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722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open-water index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34564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MNDWI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72200" y="34564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water index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38953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172200" y="3895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bare-soil index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Forest, trained on survey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2763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465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44752" y="1554480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sampling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44752" y="1865376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points drawn inside training polygons (not one per polygon, since sizes vary up to ~61 km²), each with its 14 band values.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736592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56048" y="162763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4650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32704" y="1554480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Forest, 100 trees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632704" y="1865376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ee.Classifier.smileRandomForest, fixed seed for reproducibility, trained on an 80/20 train/test split.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548640" y="2944368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8096" y="32004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1927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44752" y="3127248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vs. original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44752" y="3438144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class-balanced model (equal seagrass / non-seagrass samples) beat the imbalanced one on every metric — and is used downstream.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4736592" y="2944368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56048" y="320040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31927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32704" y="3127248"/>
            <a:ext cx="2898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model, two years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632704" y="3438144"/>
            <a:ext cx="2898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trained classifier is applied to 2019 and 2024, so any difference reflects real change, not model drift.</a:t>
            </a:r>
            <a:endParaRPr lang="en-US" sz="1030" dirty="0"/>
          </a:p>
        </p:txBody>
      </p:sp>
      <p:sp>
        <p:nvSpPr>
          <p:cNvPr id="24" name="Text 18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85.3% accuracy, confusion shown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85.3%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66928" y="23317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accuracy, class-balanced model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2633472" cy="1051560"/>
          </a:xfrm>
          <a:prstGeom prst="roundRect">
            <a:avLst>
              <a:gd name="adj" fmla="val 5217"/>
            </a:avLst>
          </a:prstGeom>
          <a:solidFill>
            <a:srgbClr val="E3F2EC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307238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Cohen’s κ = 0.696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agreement, up from 0.623 for the imbalanced model</a:t>
            </a:r>
            <a:endParaRPr lang="en-US" sz="1050" dirty="0"/>
          </a:p>
        </p:txBody>
      </p:sp>
      <p:pic>
        <p:nvPicPr>
          <p:cNvPr id="8" name="Image 0" descr="C:\Users\Abdul\Documents\University\DUBAI\dugong-uae\D_dashboard\figures\B4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632127"/>
            <a:ext cx="5074920" cy="2679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actually looks at</a:t>
            </a:r>
            <a:endParaRPr lang="en-US" sz="2600" dirty="0"/>
          </a:p>
        </p:txBody>
      </p:sp>
      <p:pic>
        <p:nvPicPr>
          <p:cNvPr id="4" name="Image 0" descr="C:\Users\Abdul\Documents\University\DUBAI\dugong-uae\D_dashboard\figures\B5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957083" cy="3063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0" y="155448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0352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303520" y="2121408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Water- and vegetation-index bands (NDWI, BSI, MNDWI, NDVI) rank among the top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alongside the raw shortwave-infrared band B12.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matches the physics: seagrass discrimination depends on both spectral water characteristics and a vegetation signal, so the derived indices earning their place is a sign the model is learning the right thing.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 ·  CHANGE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Seagrass change, 2019 → 2024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one classifier to both years and differencing the results yields four change categories — the “loss” layer becomes the single most heavily weighted threat factor in the risk model.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938528" cy="196596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5296" y="2331720"/>
            <a:ext cx="585216" cy="585216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815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non-seagrass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6656" y="3520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/ unvegetated bottom in both years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60904" y="2057400"/>
            <a:ext cx="1938528" cy="196596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2331720"/>
            <a:ext cx="585216" cy="585216"/>
          </a:xfrm>
          <a:prstGeom prst="ellipse">
            <a:avLst/>
          </a:prstGeom>
          <a:solidFill>
            <a:srgbClr val="1B7A4A"/>
          </a:solidFill>
          <a:ln/>
        </p:spPr>
      </p:sp>
      <p:sp>
        <p:nvSpPr>
          <p:cNvPr id="11" name="Text 9"/>
          <p:cNvSpPr/>
          <p:nvPr/>
        </p:nvSpPr>
        <p:spPr>
          <a:xfrm>
            <a:off x="2752344" y="30815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 seagrass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3520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meadow — the reliable core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2057400"/>
            <a:ext cx="1938528" cy="196596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49824" y="2331720"/>
            <a:ext cx="585216" cy="585216"/>
          </a:xfrm>
          <a:prstGeom prst="ellipse">
            <a:avLst/>
          </a:prstGeom>
          <a:solidFill>
            <a:srgbClr val="2C7BB6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30815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01184" y="3520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seagrass detected by 2024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85432" y="2057400"/>
            <a:ext cx="1938528" cy="1965960"/>
          </a:xfrm>
          <a:prstGeom prst="roundRect">
            <a:avLst>
              <a:gd name="adj" fmla="val 3774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62088" y="2331720"/>
            <a:ext cx="585216" cy="585216"/>
          </a:xfrm>
          <a:prstGeom prst="ellipse">
            <a:avLst/>
          </a:prstGeom>
          <a:solidFill>
            <a:srgbClr val="D7191C"/>
          </a:solidFill>
          <a:ln/>
        </p:spPr>
      </p:sp>
      <p:sp>
        <p:nvSpPr>
          <p:cNvPr id="19" name="Text 17"/>
          <p:cNvSpPr/>
          <p:nvPr/>
        </p:nvSpPr>
        <p:spPr>
          <a:xfrm>
            <a:off x="6976872" y="308152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13448" y="352044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present in 2019, gone by 2024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loss is measured, not assumed, hotspots dominated by “loss” are flagged transparently for read-alongside with classifier accuracy.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RISK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equation, in one 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280160" y="1554480"/>
            <a:ext cx="6583680" cy="1051560"/>
          </a:xfrm>
          <a:prstGeom prst="roundRect">
            <a:avLst>
              <a:gd name="adj" fmla="val 8696"/>
            </a:avLst>
          </a:prstGeom>
          <a:solidFill>
            <a:srgbClr val="12325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5544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</a:t>
            </a:r>
            <a:pPr algn="ctr" indent="0" marL="0">
              <a:buNone/>
            </a:pPr>
            <a:r>
              <a:rPr lang="en-US" sz="34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×  </a:t>
            </a:r>
            <a:pPr algn="ctr" indent="0" marL="0">
              <a:buNone/>
            </a:pPr>
            <a:r>
              <a:rPr lang="en-US" sz="3400" b="1" dirty="0">
                <a:solidFill>
                  <a:srgbClr val="F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exposure × consequence structure (after Halpern et al. 2008 / InVEST HRA): a location scores high only when valuable habitat and real pressure coincide.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3703320" cy="1051560"/>
          </a:xfrm>
          <a:prstGeom prst="roundRect">
            <a:avLst>
              <a:gd name="adj" fmla="val 6087"/>
            </a:avLst>
          </a:prstGeom>
          <a:solidFill>
            <a:srgbClr val="123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3675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785616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 (what’s at stake)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371600" y="38770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presence, weighted up to ~1.7× where dugong use is highest.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92040" y="3383280"/>
            <a:ext cx="3703320" cy="1051560"/>
          </a:xfrm>
          <a:prstGeom prst="roundRect">
            <a:avLst>
              <a:gd name="adj" fmla="val 6087"/>
            </a:avLst>
          </a:prstGeom>
          <a:solidFill>
            <a:srgbClr val="12325A"/>
          </a:solidFill>
          <a:ln/>
        </p:spPr>
      </p:sp>
      <p:sp>
        <p:nvSpPr>
          <p:cNvPr id="13" name="Shape 10"/>
          <p:cNvSpPr/>
          <p:nvPr/>
        </p:nvSpPr>
        <p:spPr>
          <a:xfrm>
            <a:off x="5111496" y="36758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378561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 (what acts on it)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715000" y="38770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sum of five normalised 0–1 pressure factors.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VALUE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seagrass is equally at stake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4F9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 =  SeagrassPresence  ×  (0.6  +  0.4 × DugongUse)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230428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423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22860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Presence from classification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2587752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SeagrassPresence comes directly from the 2024 Random Forest output — no seagrass, no value.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40080" y="314553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2644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31272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Dugong use, by distance-decay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25880" y="3429000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0–1 surface built outward from documented high-density anchors: Marawah core, Bu Tinah, central foraging grounds.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40080" y="398678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10565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39684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Weighted, but never zero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325880" y="4270248"/>
            <a:ext cx="7269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Seagrass in a known dugong core is weighted up to ~1.7× more than at the reserve’s edge — yet every pixel keeps some value, since the whole AOI is prime habitat.</a:t>
            </a:r>
            <a:endParaRPr lang="en-US" sz="1080" dirty="0"/>
          </a:p>
        </p:txBody>
      </p:sp>
      <p:sp>
        <p:nvSpPr>
          <p:cNvPr id="18" name="Text 13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THREAT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weighted, justified factors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factor is normalised 0–1; distance factors use exp(−distance/λ) with factor-specific decay lengths (λ ≈ 3–5 km). Every weight is documented in RISK_METHODOLOGY.md.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8046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657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Threat factor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Measured as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Weight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seagrass loss (2019→2024)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Smoothed density of “loss” change pixels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191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0.30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Coastal development / dredging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Distance-decay from mapped development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stress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Landsat summer surface temperature, water-masked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0.20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Desalination / industrial discharge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Distance-decay from mapped discharge points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Vessel / navigation pressure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Distance-decay from ports, landings, routes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0.15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carries the highest weight because measured decline is the strongest evidence of habitat already failing.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  · 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 ranked hotspots, not a generic 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2860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36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719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1214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hotspots ≥ 5 ha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286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03580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18.5–7,049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" y="3520440"/>
            <a:ext cx="20665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hectare range across hotspots; dominant threats: vessels, development, loss</a:t>
            </a:r>
            <a:endParaRPr lang="en-US" sz="1000" dirty="0"/>
          </a:p>
        </p:txBody>
      </p:sp>
      <p:pic>
        <p:nvPicPr>
          <p:cNvPr id="10" name="Image 0" descr="C:\Users\Abdul\Documents\University\DUBAI\dugong-uae\D_dashboard\figures\C4_hotspot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0015" y="1440180"/>
            <a:ext cx="5021410" cy="3063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MAP  · 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risk sits where it does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attributes every hotspot to a dominant driver. Across the top-ranked hotspots, two pressures stand out — and they line up with what the map shows.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8046720" cy="886968"/>
          </a:xfrm>
          <a:prstGeom prst="roundRect">
            <a:avLst>
              <a:gd name="adj" fmla="val 6186"/>
            </a:avLst>
          </a:prstGeom>
          <a:solidFill>
            <a:srgbClr val="F4F9FB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20574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1671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385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Vessel pressure — the biggest zone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212848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high-risk hotspot (7,184 ha) is vessel-dominated: the central navigation channel where propeller and grounding damage hit shallow foraging beds. It is the red streak visible on the dashboard.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8046720" cy="886968"/>
          </a:xfrm>
          <a:prstGeom prst="roundRect">
            <a:avLst>
              <a:gd name="adj" fmla="val 6186"/>
            </a:avLst>
          </a:prstGeom>
          <a:solidFill>
            <a:srgbClr val="F4F9FB"/>
          </a:solidFill>
          <a:ln/>
        </p:spPr>
      </p:sp>
      <p:sp>
        <p:nvSpPr>
          <p:cNvPr id="11" name="Shape 8"/>
          <p:cNvSpPr/>
          <p:nvPr/>
        </p:nvSpPr>
        <p:spPr>
          <a:xfrm>
            <a:off x="768096" y="3017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312724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89864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loss — the heaviest weight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417320" y="3172968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2019→2024 seagrass decline carries the highest weight (0.30). Loss-dominated hotspots mark meadows already retreating, where intervention is most time-critical.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8046720" cy="886968"/>
          </a:xfrm>
          <a:prstGeom prst="roundRect">
            <a:avLst>
              <a:gd name="adj" fmla="val 6186"/>
            </a:avLst>
          </a:prstGeom>
          <a:solidFill>
            <a:srgbClr val="F4F9FB"/>
          </a:solidFill>
          <a:ln/>
        </p:spPr>
      </p:sp>
      <p:sp>
        <p:nvSpPr>
          <p:cNvPr id="16" name="Shape 12"/>
          <p:cNvSpPr/>
          <p:nvPr/>
        </p:nvSpPr>
        <p:spPr>
          <a:xfrm>
            <a:off x="768096" y="397764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08736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85876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Coastal development — small but intense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417320" y="4133088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Development-dominated hotspots are smaller yet carry the highest mean-risk values (up to ~0.57), clustered along the developed south-east shoreline.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risk model trustworthy?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classifier accuracy, we ran three independent tests of whether the risk output is real signal — not an artefact of the parameters we chose.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11226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402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2037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Face validity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" y="2843784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mean risk fall with distance from a real discharge point, as the model’s own construction should produce?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68096" y="3776472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3F2E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77647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~0.26 near, ~0.09–0.14 far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3319272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38728" y="211226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240280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15384" y="22037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Zonal comparison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38728" y="2843784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mean risk inside the documented dugong core meaningfully higher than the reserve-wide average?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538728" y="3776472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3F2EC"/>
          </a:solidFill>
          <a:ln/>
        </p:spPr>
      </p:sp>
      <p:sp>
        <p:nvSpPr>
          <p:cNvPr id="18" name="Text 14"/>
          <p:cNvSpPr/>
          <p:nvPr/>
        </p:nvSpPr>
        <p:spPr>
          <a:xfrm>
            <a:off x="3593592" y="377647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3× higher in the core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6089904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309360" y="2112264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2240280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86016" y="2203704"/>
            <a:ext cx="1581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Weight sensitivity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09360" y="2843784"/>
            <a:ext cx="216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flagged hotspots survive perturbing each of the five weights by ±10%?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309360" y="3776472"/>
            <a:ext cx="2148840" cy="457200"/>
          </a:xfrm>
          <a:prstGeom prst="roundRect">
            <a:avLst>
              <a:gd name="adj" fmla="val 10000"/>
            </a:avLst>
          </a:prstGeom>
          <a:solidFill>
            <a:srgbClr val="E3F2EC"/>
          </a:solidFill>
          <a:ln/>
        </p:spPr>
      </p:sp>
      <p:sp>
        <p:nvSpPr>
          <p:cNvPr id="25" name="Text 20"/>
          <p:cNvSpPr/>
          <p:nvPr/>
        </p:nvSpPr>
        <p:spPr>
          <a:xfrm>
            <a:off x="6364224" y="3776472"/>
            <a:ext cx="2039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≤ 3% change in high-risk area</a:t>
            </a:r>
            <a:endParaRPr lang="en-US" sz="980" dirty="0"/>
          </a:p>
        </p:txBody>
      </p:sp>
      <p:sp>
        <p:nvSpPr>
          <p:cNvPr id="26" name="Text 21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·  ZONAL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targets where dugongs actually 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200400" cy="2194560"/>
          </a:xfrm>
          <a:prstGeom prst="roundRect">
            <a:avLst>
              <a:gd name="adj" fmla="val 4167"/>
            </a:avLst>
          </a:prstGeom>
          <a:solidFill>
            <a:srgbClr val="12325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A6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00584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risk inside the documented dugong core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1691640"/>
            <a:ext cx="3200400" cy="2194560"/>
          </a:xfrm>
          <a:prstGeom prst="roundRect">
            <a:avLst>
              <a:gd name="adj" fmla="val 4167"/>
            </a:avLst>
          </a:prstGeom>
          <a:solidFill>
            <a:srgbClr val="12325A"/>
          </a:solidFill>
          <a:ln/>
          <a:effectLst>
            <a:outerShdw sx="100000" sy="100000" kx="0" ky="0" algn="bl" rotWithShape="0" blurRad="101600" dist="254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9659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8FC1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0.153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303520" y="29260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risk across the whole study area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2423160"/>
            <a:ext cx="914400" cy="731520"/>
          </a:xfrm>
          <a:prstGeom prst="ellipse">
            <a:avLst/>
          </a:prstGeom>
          <a:solidFill>
            <a:srgbClr val="D7191C"/>
          </a:solidFill>
          <a:ln/>
          <a:effectLst>
            <a:outerShdw sx="100000" sy="100000" kx="0" ky="0" algn="bl" rotWithShape="0" blurRad="1016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24231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result a correct model should produce: risk concentrates where valuable habitat and real pressure meet — not spread uniformly, and not at random.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·  WEIGHT SENSITIVITY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hotspots survive stress-testing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five weights was perturbed ±0.10 (re-normalised to sum to 1.0) and the high-risk area recomputed. No perturbation moved it by more than 3% off the 10,681.5 ha baseline.</a:t>
            </a:r>
            <a:endParaRPr lang="en-US" sz="1250" dirty="0"/>
          </a:p>
        </p:txBody>
      </p:sp>
      <p:pic>
        <p:nvPicPr>
          <p:cNvPr id="5" name="Image 0" descr="C:\Users\Abdul\Documents\University\DUBAI\dugong-uae\D_dashboard\figures\C5_weight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4754880" cy="28435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23560" y="1920240"/>
            <a:ext cx="2971800" cy="2606040"/>
          </a:xfrm>
          <a:prstGeom prst="roundRect">
            <a:avLst>
              <a:gd name="adj" fmla="val 280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852160" y="2487168"/>
            <a:ext cx="2560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3%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high-risk area for any single-weight ±10% shift.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but equally defensible weighting would produce a similar ranking. The output is robust — not an artefact of one arbitrary set of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  ·  LIVE 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output — an interactive risk map</a:t>
            </a:r>
            <a:endParaRPr lang="en-US" sz="2400" dirty="0"/>
          </a:p>
        </p:txBody>
      </p:sp>
      <p:pic>
        <p:nvPicPr>
          <p:cNvPr id="4" name="Image 0" descr="C:\Users\Abdul\AppData\Local\Temp\claude\C--Users-Abdul-Documents-University-HAck-Backend\4bc23196-3e33-4012-9b9c-627321c7a2e3\scratchpad\deck\dashboard_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86918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99432"/>
            <a:ext cx="4869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 satellite basemap · Earth Engine risk tiles · Marawah / Bu Tinah AOI · 105 hotspot markers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537960" y="137160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12325A"/>
          </a:solidFill>
          <a:ln/>
        </p:spPr>
      </p:sp>
      <p:sp>
        <p:nvSpPr>
          <p:cNvPr id="7" name="Text 4"/>
          <p:cNvSpPr/>
          <p:nvPr/>
        </p:nvSpPr>
        <p:spPr>
          <a:xfrm>
            <a:off x="6693408" y="148132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risk tiles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693408" y="18288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blue→red gradient is the live Earth Engine risk model, not a static picture.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537960" y="246888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12325A"/>
          </a:solidFill>
          <a:ln/>
        </p:spPr>
      </p:sp>
      <p:sp>
        <p:nvSpPr>
          <p:cNvPr id="10" name="Text 7"/>
          <p:cNvSpPr/>
          <p:nvPr/>
        </p:nvSpPr>
        <p:spPr>
          <a:xfrm>
            <a:off x="6693408" y="25786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 streak = the driver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693408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Very-High corridor is the vessel channel — you can see the top hotspot’s cause.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37960" y="3566160"/>
            <a:ext cx="2057400" cy="1005840"/>
          </a:xfrm>
          <a:prstGeom prst="roundRect">
            <a:avLst>
              <a:gd name="adj" fmla="val 5455"/>
            </a:avLst>
          </a:prstGeom>
          <a:solidFill>
            <a:srgbClr val="12325A"/>
          </a:solidFill>
          <a:ln/>
        </p:spPr>
      </p:sp>
      <p:sp>
        <p:nvSpPr>
          <p:cNvPr id="13" name="Text 10"/>
          <p:cNvSpPr/>
          <p:nvPr/>
        </p:nvSpPr>
        <p:spPr>
          <a:xfrm>
            <a:off x="6693408" y="367588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non-experts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93408" y="40233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layers, click any hotspot for its rank, area, mean risk, and dominant threat.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MAP  · 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risk to response: what the map enables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dominant driver points to a concrete, targeted intervention — and the ranking says where to do it first. These are recommendations the output supports, not actions taken.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020824"/>
            <a:ext cx="493776" cy="493776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13969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1965960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Vessel pressure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26464" y="227685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speed / no-wake zones and re-routing around the central foraging channel; targeted mooring-buoy placement.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6592" y="1783080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56048" y="2020824"/>
            <a:ext cx="493776" cy="49377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1396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14416" y="1965960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Observed loss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14416" y="227685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monitoring and seagrass restoration on loss-dominated hotspots; re-run change detection to track recovery.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48640" y="3264408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68096" y="3502152"/>
            <a:ext cx="493776" cy="493776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62102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26464" y="3447288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Coastal development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426464" y="375818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dredging permits and set buffer zones around the high-value hotspots nearest the shore.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36592" y="3264408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56048" y="3502152"/>
            <a:ext cx="493776" cy="493776"/>
          </a:xfrm>
          <a:prstGeom prst="ellipse">
            <a:avLst/>
          </a:prstGeom>
          <a:solidFill>
            <a:srgbClr val="D7191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62102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14416" y="3447288"/>
            <a:ext cx="2898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Thermal &amp; discharge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614416" y="375818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 into siting of new desalination / industrial outfalls; protect cooler thermal-refuge meadows.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beats a survey or generic index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81328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habitat survey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63240" y="1371600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0" y="14630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monitoring baseline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Re-runs on new imagery at ~zero marginal cost — tracks whether hotspots stabilise or worsen.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12848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22576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seagrass extent 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2212848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30428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conditioned on dugong use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Shows where loss would matter for dugongs, not just where seagrass happens to be.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163824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environmental index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63240" y="3054096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314553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× threat, both explicit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Only scores high where habitat value and real pressure coincide — and every weight is documented.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95344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00507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3895344"/>
            <a:ext cx="365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74720" y="398678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&amp; stress-tested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Three validation checks; every weight perturbed ±10%; all code and data reproducible.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·  LOCAL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Abu Dhabi: an evidence-based start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96012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733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8308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56362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Prioritised action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187452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105 concrete locations by habitat value × real pressure — directly informs where a boundary review, dredging permit condition, or monitoring buoy should go first.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8046720" cy="96012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72491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83464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1518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baseline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292608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free, continuously updated imagery — re-run in any future year at near-zero cost to track whether hotspots are stabilising or worsening.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8046720" cy="96012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77647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88620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66674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Serves the reserve’s mandate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97764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3× zonal finding gives Marawah’s UNESCO / MPA evidence-based mandate a concrete, quantified starting point — not just “the core matters.”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·  REGIONAL &amp; GLOBAL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reusable model, not a one-off 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exposure × consequence structure, the threat factors, and the validation approach are not specific to seagrass or the Arabian Gulf.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87752" cy="2423160"/>
          </a:xfrm>
          <a:prstGeom prst="roundRect">
            <a:avLst>
              <a:gd name="adj" fmla="val 3019"/>
            </a:avLst>
          </a:prstGeom>
          <a:solidFill>
            <a:srgbClr val="12325A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22494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36829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" y="290779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Transferable structure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68096" y="33832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 habitat-value layer with a weighted, distance-decayed threat overlay, validate against ground truth, stress-test the weights — applies to any satellite-visible, single-species habitat.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2011680"/>
            <a:ext cx="2587752" cy="2423160"/>
          </a:xfrm>
          <a:prstGeom prst="roundRect">
            <a:avLst>
              <a:gd name="adj" fmla="val 3019"/>
            </a:avLst>
          </a:prstGeom>
          <a:solidFill>
            <a:srgbClr val="12325A"/>
          </a:solidFill>
          <a:ln/>
        </p:spPr>
      </p:sp>
      <p:sp>
        <p:nvSpPr>
          <p:cNvPr id="11" name="Shape 8"/>
          <p:cNvSpPr/>
          <p:nvPr/>
        </p:nvSpPr>
        <p:spPr>
          <a:xfrm>
            <a:off x="3538728" y="22494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36829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290779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species &amp; regions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38728" y="33832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Dugongs elsewhere in the Indo-Pacific, manatee seagrass in the Americas, or any coastal species tied to a mappable habitat type.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2011680"/>
            <a:ext cx="2587752" cy="2423160"/>
          </a:xfrm>
          <a:prstGeom prst="roundRect">
            <a:avLst>
              <a:gd name="adj" fmla="val 3019"/>
            </a:avLst>
          </a:prstGeom>
          <a:solidFill>
            <a:srgbClr val="12325A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9360" y="224942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368296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907792"/>
            <a:ext cx="216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tools lower the barrier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09360" y="3383280"/>
            <a:ext cx="2167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/ Landsat via Earth Engine + open-source Python. The barrier to adoption is know-how, not cost or licensing — key for lower-resource programmes.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 ·  SCALING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Scaling: same pipeline, wider reach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input is free and every step is code, scaling is a matter of pointing the pipeline at more area, more years, or another species — not buying more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6756" y="2130552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0492" y="23134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08376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49808" y="3355848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from the AOI to all of Abu Dhabi’s coast, the wider Arabian Gulf, and other dugong / manatee habitats in the Indo-Pacific and Americas — no new data cost.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19272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47388" y="2130552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24" y="231343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0712" y="3008376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20440" y="3355848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each year as new imagery lands, turning a one-off assessment into a continuous monitoring baseline; the change-detection step is already built for it.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1874520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18020" y="2130552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56" y="23134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81344" y="3008376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291072" y="3355848"/>
            <a:ext cx="2185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as a scheduled Earth Engine job and hand the dashboard to EAD; ingest official GIS layers to replace the schematic inputs.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·  AUTOMATION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pipeline that updates itself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pipeline is re-run by hand. The next step closes the loop: new imagery in, refreshed risk maps out — no manual intervention.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12325A"/>
          </a:solidFill>
          <a:ln/>
        </p:spPr>
      </p:sp>
      <p:sp>
        <p:nvSpPr>
          <p:cNvPr id="6" name="Shape 4"/>
          <p:cNvSpPr/>
          <p:nvPr/>
        </p:nvSpPr>
        <p:spPr>
          <a:xfrm>
            <a:off x="1120140" y="2249424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3876" y="2432304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08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4944" y="3438144"/>
            <a:ext cx="158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watches for new Sentinel-2 scenes as they land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395728" y="281178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606040" y="201168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12325A"/>
          </a:solidFill>
          <a:ln/>
        </p:spPr>
      </p:sp>
      <p:sp>
        <p:nvSpPr>
          <p:cNvPr id="12" name="Shape 9"/>
          <p:cNvSpPr/>
          <p:nvPr/>
        </p:nvSpPr>
        <p:spPr>
          <a:xfrm>
            <a:off x="3177540" y="2249424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243230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97480" y="3108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752344" y="3438144"/>
            <a:ext cx="158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seagrass and recomputes the risk model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453128" y="281178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›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4663440" y="201168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12325A"/>
          </a:solidFill>
          <a:ln/>
        </p:spPr>
      </p:sp>
      <p:sp>
        <p:nvSpPr>
          <p:cNvPr id="18" name="Shape 14"/>
          <p:cNvSpPr/>
          <p:nvPr/>
        </p:nvSpPr>
        <p:spPr>
          <a:xfrm>
            <a:off x="5234940" y="2249424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8676" y="2432304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54880" y="3108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809744" y="3438144"/>
            <a:ext cx="158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Regenerates the risk and 2019–2024 change maps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510528" y="2811780"/>
            <a:ext cx="237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›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6720840" y="201168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12325A"/>
          </a:solidFill>
          <a:ln/>
        </p:spPr>
      </p:sp>
      <p:sp>
        <p:nvSpPr>
          <p:cNvPr id="24" name="Shape 19"/>
          <p:cNvSpPr/>
          <p:nvPr/>
        </p:nvSpPr>
        <p:spPr>
          <a:xfrm>
            <a:off x="7292340" y="2249424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2432304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12280" y="3108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867144" y="3438144"/>
            <a:ext cx="1581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updates automatically for users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one-off assessment into a continuously updated monitoring tool, at effectively zero marginal cost.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 ·  IN-DASHBOARD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assistant inside the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map into a conversation: the assistant summarises results in plain language and explains why an area is flagged.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2697480"/>
          </a:xfrm>
          <a:prstGeom prst="roundRect">
            <a:avLst>
              <a:gd name="adj" fmla="val 3390"/>
            </a:avLst>
          </a:prstGeom>
          <a:solidFill>
            <a:srgbClr val="F4F9F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14600" y="2011680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area high-risk?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49834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3464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in the top risk class because it sits in the main </a:t>
            </a:r>
            <a:pPr indent="0" marL="0">
              <a:buNone/>
            </a:pPr>
            <a:r>
              <a:rPr lang="en-US" sz="1150" b="1" dirty="0">
                <a:solidFill>
                  <a:srgbClr val="D719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navigation corridor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(its dominant threat), overlaps documented </a:t>
            </a:r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foraging grounds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shows </a:t>
            </a:r>
            <a:pPr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seagrass loss (2019–2024)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factors the model weights most heavily.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</p:spPr>
      </p:sp>
      <p:sp>
        <p:nvSpPr>
          <p:cNvPr id="11" name="Shape 9"/>
          <p:cNvSpPr/>
          <p:nvPr/>
        </p:nvSpPr>
        <p:spPr>
          <a:xfrm>
            <a:off x="6327648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76" y="2075688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03720" y="1901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language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903720" y="217627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Summarises the map for non-technical staff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172200" y="2715768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</p:spPr>
      </p:sp>
      <p:sp>
        <p:nvSpPr>
          <p:cNvPr id="16" name="Shape 13"/>
          <p:cNvSpPr/>
          <p:nvPr/>
        </p:nvSpPr>
        <p:spPr>
          <a:xfrm>
            <a:off x="6327648" y="28986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3008376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03720" y="28346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the model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6903720" y="310896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the real drivers behind each score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172200" y="3648456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4F9FB"/>
          </a:solidFill>
          <a:ln/>
        </p:spPr>
      </p:sp>
      <p:sp>
        <p:nvSpPr>
          <p:cNvPr id="21" name="Shape 17"/>
          <p:cNvSpPr/>
          <p:nvPr/>
        </p:nvSpPr>
        <p:spPr>
          <a:xfrm>
            <a:off x="6327648" y="38313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3941064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03720" y="376732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903720" y="404164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what to check or protect next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48640" y="452628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concept — the answer is generated from the model’s real drivers, not a canned response.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 — and what it isn’t, yet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limitations section is part of the design philosophy, not a formality. Stated plainly: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928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85623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data is partly schematic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8096" y="2295144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Built-infrastructure coordinates are real and verified; reserve boundary, dugong-density surface, and vessel routes are documented approximations pending official EAD GIS layers.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736592" y="1691640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8928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85623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known training-data gap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56048" y="2295144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pagination bug truncated non-seagrass training polygons to 171 of the true 319. The download code is fixed; results shown were trained on the smaller set — retraining is a known next step.</a:t>
            </a:r>
            <a:endParaRPr lang="en-US" sz="980" dirty="0"/>
          </a:p>
        </p:txBody>
      </p:sp>
      <p:sp>
        <p:nvSpPr>
          <p:cNvPr id="13" name="Shape 9"/>
          <p:cNvSpPr/>
          <p:nvPr/>
        </p:nvSpPr>
        <p:spPr>
          <a:xfrm>
            <a:off x="548640" y="3172968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37413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333756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risk, not absolute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68096" y="377647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ranks locations within the study area against each other; it is not a calibrated probability of habitat loss.</a:t>
            </a:r>
            <a:endParaRPr lang="en-US" sz="980" dirty="0"/>
          </a:p>
        </p:txBody>
      </p:sp>
      <p:sp>
        <p:nvSpPr>
          <p:cNvPr id="17" name="Shape 12"/>
          <p:cNvSpPr/>
          <p:nvPr/>
        </p:nvSpPr>
        <p:spPr>
          <a:xfrm>
            <a:off x="4736592" y="3172968"/>
            <a:ext cx="3950208" cy="1298448"/>
          </a:xfrm>
          <a:prstGeom prst="roundRect">
            <a:avLst>
              <a:gd name="adj" fmla="val 4225"/>
            </a:avLst>
          </a:prstGeom>
          <a:solidFill>
            <a:srgbClr val="F4F9F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37413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33756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field validation yet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56048" y="377647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validation shows the method behaves sensibly; it does not confirm any individual hotspot’s on-the-ground condition. That needs a site visit or independent survey.</a:t>
            </a:r>
            <a:endParaRPr lang="en-US" sz="980" dirty="0"/>
          </a:p>
        </p:txBody>
      </p:sp>
      <p:sp>
        <p:nvSpPr>
          <p:cNvPr id="21" name="Text 15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prototype to deployed tool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459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647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50208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444752" y="15910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 official EAD GIS layers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44752" y="2048256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schematic boundaries and surfaces with authoritative data — sharpens output without changing the method.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36592" y="1371600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56048" y="16459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76479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38160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632704" y="1591056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 on the full 319-polygon set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632704" y="2048256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fixed download and retrain the classifier to close the known training-data gap.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" y="2944368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68096" y="32186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3375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50208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444752" y="316382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Field-validate top hotspots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44752" y="3621024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a sample of ranked hotspots against recent survey data or a site visit.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36592" y="2944368"/>
            <a:ext cx="3950208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956048" y="321868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33756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138160" y="3054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5632704" y="3163824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Co-design with the agencies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632704" y="3621024"/>
            <a:ext cx="2852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dashboard in front of the regulators and researchers who’d use it, and act on what “actionable” means to them.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" y="48006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651760"/>
            <a:ext cx="3840480" cy="3840480"/>
          </a:xfrm>
          <a:prstGeom prst="ellipse">
            <a:avLst/>
          </a:prstGeom>
          <a:solidFill>
            <a:srgbClr val="0E2A4C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1280160"/>
            <a:ext cx="3291840" cy="3291840"/>
          </a:xfrm>
          <a:prstGeom prst="ellipse">
            <a:avLst/>
          </a:prstGeom>
          <a:solidFill>
            <a:srgbClr val="1232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58368" y="10972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9202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pixels to protection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58368" y="2880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reproducible, evidence-based way to rank where dugong conservation effort matters most — </a:t>
            </a:r>
            <a:pPr indent="0" marL="0">
              <a:buNone/>
            </a:pPr>
            <a:r>
              <a:rPr lang="en-US" sz="1600" b="1" dirty="0">
                <a:solidFill>
                  <a:srgbClr val="8FC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free satellite data and open, auditable methodology.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" y="4315968"/>
            <a:ext cx="20116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434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Dugong Watch  ·  Prototypes for Humanity 2026  ·  Marawah / Bu Tinah, Abu Dhabi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Dugong Watch — Seagrass Habitat Risk Mapping</dc:title>
  <dc:subject>PptxGenJS Presentation</dc:subject>
  <dc:creator>Dugong Watch Team</dc:creator>
  <cp:lastModifiedBy>Dugong Watch Team</cp:lastModifiedBy>
  <cp:revision>1</cp:revision>
  <dcterms:created xsi:type="dcterms:W3CDTF">2026-07-06T11:33:48Z</dcterms:created>
  <dcterms:modified xsi:type="dcterms:W3CDTF">2026-07-06T11:33:48Z</dcterms:modified>
</cp:coreProperties>
</file>