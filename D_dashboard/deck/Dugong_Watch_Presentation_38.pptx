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image" Target="../media/image-35-5.png"/><Relationship Id="rId6" Type="http://schemas.openxmlformats.org/officeDocument/2006/relationships/image" Target="../media/image-3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-1097280"/>
            <a:ext cx="3840480" cy="3840480"/>
          </a:xfrm>
          <a:prstGeom prst="ellipse">
            <a:avLst/>
          </a:prstGeom>
          <a:solidFill>
            <a:srgbClr val="12325A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2834640"/>
            <a:ext cx="2743200" cy="2743200"/>
          </a:xfrm>
          <a:prstGeom prst="ellipse">
            <a:avLst/>
          </a:prstGeom>
          <a:solidFill>
            <a:srgbClr val="0E2A4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658368" y="1234440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0574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DUGONG WATCH</a:t>
            </a:r>
            <a:endParaRPr lang="en-US" sz="5000" dirty="0"/>
          </a:p>
        </p:txBody>
      </p:sp>
      <p:sp>
        <p:nvSpPr>
          <p:cNvPr id="6" name="Text 3"/>
          <p:cNvSpPr/>
          <p:nvPr/>
        </p:nvSpPr>
        <p:spPr>
          <a:xfrm>
            <a:off x="658368" y="3063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8FC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Seagrass Habitat Risk Mapping for Dugong Conservation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58368" y="358444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Marawah / Bu Tinah Marine Biosphere Reserve  —  Abu Dhabi, UAE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85800" y="4315968"/>
            <a:ext cx="20116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4434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C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Prototypes for Humanity 2026  ·  Final 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pixels to ranked priorities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turns free satellite imagery into a transparent, ranked map of where dugong seagrass habitat is both valuable and under real pressure.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587752" cy="1298448"/>
          </a:xfrm>
          <a:prstGeom prst="roundRect">
            <a:avLst>
              <a:gd name="adj" fmla="val 4930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2048256"/>
            <a:ext cx="2496312" cy="56692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85.3%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704088" y="2633472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seagrass classification accuracy (balanced Random Forest)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19272" y="1920240"/>
            <a:ext cx="2587752" cy="1298448"/>
          </a:xfrm>
          <a:prstGeom prst="roundRect">
            <a:avLst>
              <a:gd name="adj" fmla="val 4930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64992" y="2048256"/>
            <a:ext cx="2496312" cy="56692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D7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105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3474720" y="2633472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risk hotspots identified (≥ 5 ha)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89904" y="1920240"/>
            <a:ext cx="2587752" cy="1298448"/>
          </a:xfrm>
          <a:prstGeom prst="roundRect">
            <a:avLst>
              <a:gd name="adj" fmla="val 4930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35624" y="2048256"/>
            <a:ext cx="2496312" cy="56692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D7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3×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6245352" y="2633472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mean risk inside the dugong core vs. reserve-wide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419856"/>
            <a:ext cx="2587752" cy="1298448"/>
          </a:xfrm>
          <a:prstGeom prst="roundRect">
            <a:avLst>
              <a:gd name="adj" fmla="val 4930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3547872"/>
            <a:ext cx="2496312" cy="56692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704088" y="4133088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threat factors combined into one weighted index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319272" y="3419856"/>
            <a:ext cx="2587752" cy="1298448"/>
          </a:xfrm>
          <a:prstGeom prst="roundRect">
            <a:avLst>
              <a:gd name="adj" fmla="val 4930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364992" y="3547872"/>
            <a:ext cx="2496312" cy="56692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774.6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3474720" y="4133088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km² study area, entirely inside the biosphere reserve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89904" y="3419856"/>
            <a:ext cx="2587752" cy="1298448"/>
          </a:xfrm>
          <a:prstGeom prst="roundRect">
            <a:avLst>
              <a:gd name="adj" fmla="val 4930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35624" y="3547872"/>
            <a:ext cx="2496312" cy="56692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3300" dirty="0"/>
          </a:p>
        </p:txBody>
      </p:sp>
      <p:sp>
        <p:nvSpPr>
          <p:cNvPr id="22" name="Text 20"/>
          <p:cNvSpPr/>
          <p:nvPr/>
        </p:nvSpPr>
        <p:spPr>
          <a:xfrm>
            <a:off x="6245352" y="4133088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data cost — free Sentinel-2 / Landsat imagery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we’ll walk through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9502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55064"/>
            <a:ext cx="457200" cy="457200"/>
          </a:xfrm>
          <a:prstGeom prst="ellipse">
            <a:avLst/>
          </a:prstGeom>
          <a:solidFill>
            <a:srgbClr val="D7191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764792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9888" y="1545336"/>
            <a:ext cx="2990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The problem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389888" y="1847088"/>
            <a:ext cx="2990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dugong habitat needs a risk map, and why one doesn’t exist yet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36592" y="1417320"/>
            <a:ext cx="39502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165506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1764792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1545336"/>
            <a:ext cx="2990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The pipeline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577840" y="1847088"/>
            <a:ext cx="2990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five tracks turn imagery into a ranked, auditable output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2514600"/>
            <a:ext cx="39502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49808" y="275234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2862072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89888" y="2642616"/>
            <a:ext cx="2990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 Classification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389888" y="2944368"/>
            <a:ext cx="2990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seagrass from Sentinel-2 with a validated ML model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736592" y="2514600"/>
            <a:ext cx="39502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37760" y="275234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2862072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77840" y="2642616"/>
            <a:ext cx="2990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 Risk modelling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5577840" y="2944368"/>
            <a:ext cx="2990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habitat value with five weighted threat factors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3611880"/>
            <a:ext cx="39502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49808" y="384962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3959352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89888" y="3739896"/>
            <a:ext cx="2990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 Validation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1389888" y="4041648"/>
            <a:ext cx="2990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independent checks that the risk output is trustworthy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4736592" y="3611880"/>
            <a:ext cx="39502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937760" y="384962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7488" y="3959352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577840" y="3739896"/>
            <a:ext cx="2990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 Impact &amp; limits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5577840" y="4041648"/>
            <a:ext cx="2990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enables locally and globally — and what it is not, yet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 ·  1 OF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globally significant population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8FC1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3,000–3,500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76072" y="2697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dugongs in Abu Dhabi waters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76072" y="3246120"/>
            <a:ext cx="3794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second-largest dugong population on Earth</a:t>
            </a:r>
            <a:pPr indent="0" marL="0">
              <a:buNone/>
            </a:pPr>
            <a:r>
              <a:rPr lang="en-US" sz="135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after Australia — concentrated in the Marawah / Bu Tinah region and recognised by UNESCO as a Man and the Biosphere reserve.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663440" y="1691640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12325A"/>
          </a:solidFill>
          <a:ln/>
        </p:spPr>
      </p:sp>
      <p:sp>
        <p:nvSpPr>
          <p:cNvPr id="8" name="Shape 6"/>
          <p:cNvSpPr/>
          <p:nvPr/>
        </p:nvSpPr>
        <p:spPr>
          <a:xfrm>
            <a:off x="4864608" y="1938528"/>
            <a:ext cx="438912" cy="43891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5192" y="2039112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40680" y="181965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Vulnerable (IUCN)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440680" y="211226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dugong is the only strictly herbivorous marine mammal, and is listed as Vulnerable to extinction globally.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63440" y="2724912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12325A"/>
          </a:solidFill>
          <a:ln/>
        </p:spPr>
      </p:sp>
      <p:sp>
        <p:nvSpPr>
          <p:cNvPr id="13" name="Shape 10"/>
          <p:cNvSpPr/>
          <p:nvPr/>
        </p:nvSpPr>
        <p:spPr>
          <a:xfrm>
            <a:off x="4864608" y="2971800"/>
            <a:ext cx="438912" cy="43891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3072384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40680" y="28529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UNESCO biosphere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440680" y="314553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Marawah is the UAE’s first UNESCO Man &amp; Biosphere reserve, and a designated Marine Protected Area.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663440" y="3758184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12325A"/>
          </a:solidFill>
          <a:ln/>
        </p:spPr>
      </p:sp>
      <p:sp>
        <p:nvSpPr>
          <p:cNvPr id="18" name="Shape 14"/>
          <p:cNvSpPr/>
          <p:nvPr/>
        </p:nvSpPr>
        <p:spPr>
          <a:xfrm>
            <a:off x="4864608" y="4005072"/>
            <a:ext cx="438912" cy="43891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5192" y="4105656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440680" y="38862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Shallow, warm waters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5440680" y="41788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Dugongs forage in waters under ~5 m deep, in one of the hottest, most rapidly developing seas on Earth.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 ·  2 OF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Survival hangs on one resource: seagrass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Dugongs feed almost exclusively on seagrass meadows. Protect the seagrass and you protect the dugong; lose it and the population has nowhere to go. That makes seagrass the single most decision-relevant thing to map — and to protect.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2331720"/>
            <a:ext cx="2487168" cy="1783080"/>
          </a:xfrm>
          <a:prstGeom prst="roundRect">
            <a:avLst>
              <a:gd name="adj" fmla="val 4103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17904" y="2587752"/>
            <a:ext cx="768096" cy="76809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0784" y="2788920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8096" y="3465576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Healthy seagrass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95528" y="3758184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meadows in shallow Gulf waters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163824" y="29032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</a:rPr>
              <a:t>›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3648456" y="2331720"/>
            <a:ext cx="2487168" cy="1783080"/>
          </a:xfrm>
          <a:prstGeom prst="roundRect">
            <a:avLst>
              <a:gd name="adj" fmla="val 4103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07992" y="2587752"/>
            <a:ext cx="768096" cy="76809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872" y="2788920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58184" y="3465576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Feeds the dugong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785616" y="3758184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adult grazes ~30 kg of seagrass daily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6153912" y="29032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</a:rPr>
              <a:t>›</a:t>
            </a:r>
            <a:endParaRPr lang="en-US" sz="3000" dirty="0"/>
          </a:p>
        </p:txBody>
      </p:sp>
      <p:sp>
        <p:nvSpPr>
          <p:cNvPr id="17" name="Shape 13"/>
          <p:cNvSpPr/>
          <p:nvPr/>
        </p:nvSpPr>
        <p:spPr>
          <a:xfrm>
            <a:off x="6638544" y="2331720"/>
            <a:ext cx="2487168" cy="1783080"/>
          </a:xfrm>
          <a:prstGeom prst="roundRect">
            <a:avLst>
              <a:gd name="adj" fmla="val 4103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498080" y="2587752"/>
            <a:ext cx="768096" cy="768096"/>
          </a:xfrm>
          <a:prstGeom prst="ellipse">
            <a:avLst/>
          </a:prstGeom>
          <a:solidFill>
            <a:srgbClr val="D7191C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2788920"/>
            <a:ext cx="402336" cy="40233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48272" y="3465576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Sustains the population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775704" y="3758184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seagrass → no foraging → no dugongs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 ·  3 OF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measurable pressures on the habitat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146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572768"/>
            <a:ext cx="512064" cy="512064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916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15798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Coastal development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49808" y="2414016"/>
            <a:ext cx="2130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Dredging and land reclamation directly bury or smother meadows.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3246120" y="1371600"/>
            <a:ext cx="25146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47288" y="1572768"/>
            <a:ext cx="512064" cy="512064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69164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47288" y="215798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Desalination &amp; discharge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447288" y="2414016"/>
            <a:ext cx="2130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Brine and industrial outfall raise salinity and temperature locally.</a:t>
            </a:r>
            <a:endParaRPr lang="en-US" sz="980" dirty="0"/>
          </a:p>
        </p:txBody>
      </p:sp>
      <p:sp>
        <p:nvSpPr>
          <p:cNvPr id="14" name="Shape 10"/>
          <p:cNvSpPr/>
          <p:nvPr/>
        </p:nvSpPr>
        <p:spPr>
          <a:xfrm>
            <a:off x="5943600" y="1371600"/>
            <a:ext cx="25146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44768" y="1572768"/>
            <a:ext cx="512064" cy="512064"/>
          </a:xfrm>
          <a:prstGeom prst="ellipse">
            <a:avLst/>
          </a:prstGeom>
          <a:solidFill>
            <a:srgbClr val="D7191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69164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44768" y="215798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Marine heat stress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144768" y="2414016"/>
            <a:ext cx="2130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Gulf is among the hottest seas on Earth; heatwaves bleach seagrass.</a:t>
            </a:r>
            <a:endParaRPr lang="en-US" sz="980" dirty="0"/>
          </a:p>
        </p:txBody>
      </p:sp>
      <p:sp>
        <p:nvSpPr>
          <p:cNvPr id="19" name="Shape 14"/>
          <p:cNvSpPr/>
          <p:nvPr/>
        </p:nvSpPr>
        <p:spPr>
          <a:xfrm>
            <a:off x="1897380" y="2990088"/>
            <a:ext cx="25146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098548" y="3191256"/>
            <a:ext cx="512064" cy="512064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420" y="3310128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098548" y="3776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Vessel pressure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2098548" y="4032504"/>
            <a:ext cx="2130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Propeller scarring and groundings damage shallow foraging beds.</a:t>
            </a:r>
            <a:endParaRPr lang="en-US" sz="980" dirty="0"/>
          </a:p>
        </p:txBody>
      </p:sp>
      <p:sp>
        <p:nvSpPr>
          <p:cNvPr id="24" name="Shape 18"/>
          <p:cNvSpPr/>
          <p:nvPr/>
        </p:nvSpPr>
        <p:spPr>
          <a:xfrm>
            <a:off x="4594860" y="2990088"/>
            <a:ext cx="25146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96028" y="3191256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4900" y="3310128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796028" y="3776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Observed loss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796028" y="4032504"/>
            <a:ext cx="2130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seagrass decline between 2019 and 2024 from imagery itself.</a:t>
            </a:r>
            <a:endParaRPr lang="en-US" sz="980" dirty="0"/>
          </a:p>
        </p:txBody>
      </p:sp>
      <p:sp>
        <p:nvSpPr>
          <p:cNvPr id="29" name="Text 22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 ·  4 OF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 no existing tool answers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8046720" cy="960120"/>
          </a:xfrm>
          <a:prstGeom prst="roundRect">
            <a:avLst>
              <a:gd name="adj" fmla="val 7619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41732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D7E6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simply “where is there seagrass,” but </a:t>
            </a:r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is seagrass both present and under enough pressure that its loss would matter for dugong survival?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48640" y="254203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it means combining three things that are rarely brought together: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2587752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319125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3300984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5880" y="3191256"/>
            <a:ext cx="1673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Habitat maps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68096" y="3630168"/>
            <a:ext cx="2167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seagrass exists — but surveys are episodic and expensive to run at scale.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19272" y="2971800"/>
            <a:ext cx="2587752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20440" y="319125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168" y="3300984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096512" y="3191256"/>
            <a:ext cx="1673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over time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538728" y="3630168"/>
            <a:ext cx="2167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it is being lost — rarely tracked consistently across years.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089904" y="2971800"/>
            <a:ext cx="2587752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91072" y="319125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300984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867144" y="3191256"/>
            <a:ext cx="1673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 data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309360" y="3630168"/>
            <a:ext cx="2167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pressures act where — scattered across non-standardised sources.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end-to-end, auditable pipeline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principle:  </a:t>
            </a:r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over sophistication. 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weight is a documented parameter, every threat layer’s provenance is labelled, and the model’s own sensitivity to its assumptions is tested — not assumed.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938528" cy="2148840"/>
          </a:xfrm>
          <a:prstGeom prst="roundRect">
            <a:avLst>
              <a:gd name="adj" fmla="val 3774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52144" y="2276856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245973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76656" y="220370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C1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315468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94944" y="350215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Seagrass presence from free Sentinel-2 imagery, trained on official EAD survey polygons.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660904" y="2057400"/>
            <a:ext cx="1938528" cy="2148840"/>
          </a:xfrm>
          <a:prstGeom prst="roundRect">
            <a:avLst>
              <a:gd name="adj" fmla="val 3774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64408" y="2276856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144" y="2459736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788920" y="220370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C1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2752344" y="315468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 change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2807208" y="350215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Seagrass gain and loss between 2019 and 2024 from the same imagery source.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773168" y="2057400"/>
            <a:ext cx="1938528" cy="2148840"/>
          </a:xfrm>
          <a:prstGeom prst="roundRect">
            <a:avLst>
              <a:gd name="adj" fmla="val 3774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376672" y="2276856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0408" y="2459736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01184" y="220370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C1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4864608" y="315468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 risk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4919472" y="350215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habitat value with five weighted threat factors into one 0–1 index.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885432" y="2057400"/>
            <a:ext cx="1938528" cy="2148840"/>
          </a:xfrm>
          <a:prstGeom prst="roundRect">
            <a:avLst>
              <a:gd name="adj" fmla="val 3774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488936" y="2276856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2672" y="2459736"/>
            <a:ext cx="384048" cy="38404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013448" y="220370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C1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6976872" y="315468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7031736" y="350215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ranked, interactive map a non-technical stakeholder can use directly.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tracks, each feeding the next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508760" cy="2606040"/>
          </a:xfrm>
          <a:prstGeom prst="roundRect">
            <a:avLst>
              <a:gd name="adj" fmla="val 4848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865376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C1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" y="2267712"/>
            <a:ext cx="512064" cy="512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2926080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GEE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342900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imagery, cloud masking, 14-band feature stack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057400" y="281178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</a:rPr>
              <a:t>›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194560" y="1737360"/>
            <a:ext cx="1508760" cy="2606040"/>
          </a:xfrm>
          <a:prstGeom prst="roundRect">
            <a:avLst>
              <a:gd name="adj" fmla="val 4848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194560" y="1865376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C1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908" y="2267712"/>
            <a:ext cx="512064" cy="5120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267712" y="2926080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Classification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286000" y="342900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seagrass mapping, 85.3% accuracy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3703320" y="281178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</a:rPr>
              <a:t>›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3840480" y="1737360"/>
            <a:ext cx="1508760" cy="2606040"/>
          </a:xfrm>
          <a:prstGeom prst="roundRect">
            <a:avLst>
              <a:gd name="adj" fmla="val 4848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3840480" y="1865376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C1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8828" y="2267712"/>
            <a:ext cx="512064" cy="51206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913632" y="2926080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Modelling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3931920" y="342900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threat overlay, 105 ranked hotspots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5349240" y="281178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</a:rPr>
              <a:t>›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5486400" y="1737360"/>
            <a:ext cx="1508760" cy="2606040"/>
          </a:xfrm>
          <a:prstGeom prst="roundRect">
            <a:avLst>
              <a:gd name="adj" fmla="val 4848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5486400" y="1865376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C1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4748" y="2267712"/>
            <a:ext cx="512064" cy="51206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559552" y="2926080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577840" y="342900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risk map for stakeholders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6995160" y="281178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</a:rPr>
              <a:t>›</a:t>
            </a:r>
            <a:endParaRPr lang="en-US" sz="1600" dirty="0"/>
          </a:p>
        </p:txBody>
      </p:sp>
      <p:sp>
        <p:nvSpPr>
          <p:cNvPr id="28" name="Shape 22"/>
          <p:cNvSpPr/>
          <p:nvPr/>
        </p:nvSpPr>
        <p:spPr>
          <a:xfrm>
            <a:off x="7132320" y="1737360"/>
            <a:ext cx="1508760" cy="2606040"/>
          </a:xfrm>
          <a:prstGeom prst="roundRect">
            <a:avLst>
              <a:gd name="adj" fmla="val 4848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7132320" y="1865376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C1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6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0668" y="2267712"/>
            <a:ext cx="512064" cy="51206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205472" y="2926080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7223760" y="342900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Findings, methodology, impact, limitations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Owner-per-track structure keeps every stage independently reviewable and reproducible.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 ·  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 area and data sources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774.6 km² 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 covering the Marawah / Bu Tinah region (lon 52.98–53.32, lat 24.19–24.48), falling entirely inside the Marawah Marine Biosphere Reserve.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8046720" cy="822960"/>
          </a:xfrm>
          <a:prstGeom prst="roundRect">
            <a:avLst>
              <a:gd name="adj" fmla="val 6667"/>
            </a:avLst>
          </a:prstGeom>
          <a:solidFill>
            <a:srgbClr val="F4F9FB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1975104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075688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53312" y="1892808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Sentinel-2 Surface Reflectance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353312" y="2176272"/>
            <a:ext cx="7086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Level-2A, cloud-masked (QA60), median-composited per year. 222 scenes built the 2024 composite. 2019 &amp; 2024 compared.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2679192"/>
            <a:ext cx="8046720" cy="822960"/>
          </a:xfrm>
          <a:prstGeom prst="roundRect">
            <a:avLst>
              <a:gd name="adj" fmla="val 6667"/>
            </a:avLst>
          </a:prstGeom>
          <a:solidFill>
            <a:srgbClr val="F4F9FB"/>
          </a:solidFill>
          <a:ln/>
        </p:spPr>
      </p:sp>
      <p:sp>
        <p:nvSpPr>
          <p:cNvPr id="11" name="Shape 8"/>
          <p:cNvSpPr/>
          <p:nvPr/>
        </p:nvSpPr>
        <p:spPr>
          <a:xfrm>
            <a:off x="749808" y="2871216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971800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53312" y="2788920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Landsat 8/9 thermal (ST_B10)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1353312" y="3072384"/>
            <a:ext cx="7086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surface temperature (Jun–Sep), converted to °C, water-masked so hot dry land can’t skew the thermal signal.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3575304"/>
            <a:ext cx="8046720" cy="822960"/>
          </a:xfrm>
          <a:prstGeom prst="roundRect">
            <a:avLst>
              <a:gd name="adj" fmla="val 6667"/>
            </a:avLst>
          </a:prstGeom>
          <a:solidFill>
            <a:srgbClr val="F4F9FB"/>
          </a:solidFill>
          <a:ln/>
        </p:spPr>
      </p:sp>
      <p:sp>
        <p:nvSpPr>
          <p:cNvPr id="16" name="Shape 12"/>
          <p:cNvSpPr/>
          <p:nvPr/>
        </p:nvSpPr>
        <p:spPr>
          <a:xfrm>
            <a:off x="749808" y="3767328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867912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53312" y="3685032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EAD habitat vector data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1353312" y="3968496"/>
            <a:ext cx="7086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 seagrass + 171 non-seagrass training polygons; a separate 118-polygon reference layer; a 1,954-polygon regional context layer.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548640" y="44988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is free and public — no proprietary or purchased imagery anywhere in the pipeline.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 ·  FEATURES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bands to a 14-feature stack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annual composite is reduced to 14 predictor features per 10 m pixel — ten raw Sentinel-2 bands plus four spectral indices that sharpen the water–vegetation distinction seagrass classification depends 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977640" cy="2514600"/>
          </a:xfrm>
          <a:prstGeom prst="roundRect">
            <a:avLst>
              <a:gd name="adj" fmla="val 2909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148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raw Sentinel-2 bands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 (blue)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51760" y="256032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 (green)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92608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 (red)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51760" y="292608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 (red edge)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29184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B6 (red edge)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51760" y="329184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B7 (red edge)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65760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B8 (NIR)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51760" y="365760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B8A (narrow NIR)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402336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B11 (SWIR)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51760" y="402336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B12 (SWIR)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1965960"/>
            <a:ext cx="3886200" cy="2514600"/>
          </a:xfrm>
          <a:prstGeom prst="roundRect">
            <a:avLst>
              <a:gd name="adj" fmla="val 2909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2148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C1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derived spectral indices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83480" y="257860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72200" y="25786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vegetation vigour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83480" y="30175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NDWI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7220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open-water index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83480" y="34564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MNDWI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72200" y="34564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water index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83480" y="389534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72200" y="389534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bare-soil index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  ·  CLASSIFICATION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Forest, trained on survey data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50208" cy="1371600"/>
          </a:xfrm>
          <a:prstGeom prst="roundRect">
            <a:avLst>
              <a:gd name="adj" fmla="val 4667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627632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4650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44752" y="1554480"/>
            <a:ext cx="2898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Stratified sampling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44752" y="1865376"/>
            <a:ext cx="2898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points drawn inside training polygons (not one per polygon, since sizes vary up to ~61 km²), each with its 14 band values.</a:t>
            </a:r>
            <a:endParaRPr lang="en-US" sz="1030" dirty="0"/>
          </a:p>
        </p:txBody>
      </p:sp>
      <p:sp>
        <p:nvSpPr>
          <p:cNvPr id="9" name="Shape 6"/>
          <p:cNvSpPr/>
          <p:nvPr/>
        </p:nvSpPr>
        <p:spPr>
          <a:xfrm>
            <a:off x="4736592" y="1371600"/>
            <a:ext cx="3950208" cy="1371600"/>
          </a:xfrm>
          <a:prstGeom prst="roundRect">
            <a:avLst>
              <a:gd name="adj" fmla="val 4667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56048" y="1627632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746504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32704" y="1554480"/>
            <a:ext cx="2898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Forest, 100 trees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632704" y="1865376"/>
            <a:ext cx="2898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ee.Classifier.smileRandomForest, fixed seed for reproducibility, trained on an 80/20 train/test split.</a:t>
            </a:r>
            <a:endParaRPr lang="en-US" sz="1030" dirty="0"/>
          </a:p>
        </p:txBody>
      </p:sp>
      <p:sp>
        <p:nvSpPr>
          <p:cNvPr id="14" name="Shape 10"/>
          <p:cNvSpPr/>
          <p:nvPr/>
        </p:nvSpPr>
        <p:spPr>
          <a:xfrm>
            <a:off x="548640" y="2944368"/>
            <a:ext cx="3950208" cy="1371600"/>
          </a:xfrm>
          <a:prstGeom prst="roundRect">
            <a:avLst>
              <a:gd name="adj" fmla="val 4667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68096" y="320040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31927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44752" y="3127248"/>
            <a:ext cx="2898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Balanced vs. original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444752" y="3438144"/>
            <a:ext cx="2898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class-balanced model (equal seagrass / non-seagrass samples) beat the imbalanced one on every metric — and is used downstream.</a:t>
            </a:r>
            <a:endParaRPr lang="en-US" sz="1030" dirty="0"/>
          </a:p>
        </p:txBody>
      </p:sp>
      <p:sp>
        <p:nvSpPr>
          <p:cNvPr id="19" name="Shape 14"/>
          <p:cNvSpPr/>
          <p:nvPr/>
        </p:nvSpPr>
        <p:spPr>
          <a:xfrm>
            <a:off x="4736592" y="2944368"/>
            <a:ext cx="3950208" cy="1371600"/>
          </a:xfrm>
          <a:prstGeom prst="roundRect">
            <a:avLst>
              <a:gd name="adj" fmla="val 4667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56048" y="320040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319272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32704" y="3127248"/>
            <a:ext cx="2898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model, two years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632704" y="3438144"/>
            <a:ext cx="2898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trained classifier is applied to 2019 and 2024, so any difference reflects real change, not model drift.</a:t>
            </a:r>
            <a:endParaRPr lang="en-US" sz="1030" dirty="0"/>
          </a:p>
        </p:txBody>
      </p:sp>
      <p:sp>
        <p:nvSpPr>
          <p:cNvPr id="24" name="Text 18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  ·  TRACK B CODE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classifier, in real code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074920" cy="3246120"/>
          </a:xfrm>
          <a:prstGeom prst="roundRect">
            <a:avLst>
              <a:gd name="adj" fmla="val 1690"/>
            </a:avLst>
          </a:prstGeom>
          <a:solidFill>
            <a:srgbClr val="0A1A30"/>
          </a:solidFill>
          <a:ln/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481328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E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M2_classification / Seagrass_Dugong_Mapping.ipynb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94944" y="1755648"/>
            <a:ext cx="4782312" cy="273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C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PREDICTOR_BANDS = ["B2","B3","B4","B5","B6","B7","B8",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C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"B8A","B11","B12","NDVI","NDWI","MNDWI","BSI"]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C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build_feature_stack(start, end, bounds):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C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coll = (ee.ImageCollection("COPERNICUS/S2_SR_HARMONIZED")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C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.filterBounds(bounds).filterDate(start, end)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C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.filter(ee.Filter.lt("CLOUDY_PIXEL_PERCENTAGE",20))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C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.map(mask_s2_clouds))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C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comp = coll.median().clip(bounds)   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per-year median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C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ndvi = comp.normalizedDifference(["B8","B4"])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C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+ NDWI, MNDWI, BSI spectral indices ...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C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comp.addBands([ndvi,ndwi,mndwi,bsi])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C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 = ee.Classifier.smileRandomForest(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C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numberOfTrees=100, seed=42).train(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C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features=balanced_training_set,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C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classProperty="class",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C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inputProperties=predictor_bands)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897880" y="1481328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0176" y="1563624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382512" y="14630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deterministic pipeline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382512" y="17373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seed (42) means anyone re-running gets the identical model — a requirement for an auditable tool.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5897880" y="2532888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0176" y="2615184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82512" y="25146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features per pixel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6382512" y="27889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raw Sentinel-2 bands + 4 spectral indices, computed server-side in Earth Engine at 10 m.</a:t>
            </a:r>
            <a:endParaRPr lang="en-US" sz="980" dirty="0"/>
          </a:p>
        </p:txBody>
      </p:sp>
      <p:sp>
        <p:nvSpPr>
          <p:cNvPr id="15" name="Shape 11"/>
          <p:cNvSpPr/>
          <p:nvPr/>
        </p:nvSpPr>
        <p:spPr>
          <a:xfrm>
            <a:off x="5897880" y="3584448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76" y="3666744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82512" y="35661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code, both years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382512" y="38404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function builds the 2019 and 2024 stacks, so change reflects the ground, not the model.</a:t>
            </a:r>
            <a:endParaRPr lang="en-US" sz="980" dirty="0"/>
          </a:p>
        </p:txBody>
      </p:sp>
      <p:sp>
        <p:nvSpPr>
          <p:cNvPr id="19" name="Text 14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  · 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85.3% accuracy, confusion shown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85.3%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66928" y="23317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accuracy, class-balanced model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2633472" cy="1051560"/>
          </a:xfrm>
          <a:prstGeom prst="roundRect">
            <a:avLst>
              <a:gd name="adj" fmla="val 5217"/>
            </a:avLst>
          </a:prstGeom>
          <a:solidFill>
            <a:srgbClr val="E3F2EC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3072384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Cohen’s κ = 0.696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substantial agreement, up from 0.623 for the imbalanced model</a:t>
            </a:r>
            <a:endParaRPr lang="en-US" sz="1050" dirty="0"/>
          </a:p>
        </p:txBody>
      </p:sp>
      <p:pic>
        <p:nvPicPr>
          <p:cNvPr id="8" name="Image 0" descr="C:\Users\Abdul\Documents\University\DUBAI\dugong-uae\D_dashboard\figures\B4_confusion_matri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0" y="1632127"/>
            <a:ext cx="5074920" cy="2679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  · 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metric in the published range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accuracy, kappa, and producer’s / user’s accuracy for both classes — the balanced model (orange) sits inside the 73–87% range reported for comparable satellite seagrass methods.</a:t>
            </a:r>
            <a:endParaRPr lang="en-US" sz="1250" dirty="0"/>
          </a:p>
        </p:txBody>
      </p:sp>
      <p:pic>
        <p:nvPicPr>
          <p:cNvPr id="5" name="Image 0" descr="C:\Users\Abdul\Documents\University\DUBAI\dugong-uae\D_dashboard\figures\B4_accuracy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6734" y="1828800"/>
            <a:ext cx="6110531" cy="2880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  · 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model actually looks at</a:t>
            </a:r>
            <a:endParaRPr lang="en-US" sz="2600" dirty="0"/>
          </a:p>
        </p:txBody>
      </p:sp>
      <p:pic>
        <p:nvPicPr>
          <p:cNvPr id="4" name="Image 0" descr="C:\Users\Abdul\Documents\University\DUBAI\dugong-uae\D_dashboard\figures\B5_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3957083" cy="3063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74920" y="155448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303520" y="1737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Interpretation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303520" y="2121408"/>
            <a:ext cx="3108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 and vegetation-index bands (NDWI, BSI, MNDWI, NDVI) rank among the top features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alongside the raw shortwave-infrared band B12.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matches the physics: seagrass discrimination depends on both spectral water characteristics and a vegetation signal, so the derived indices earning their place is a sign the model is learning the right thing.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  ·  CHANGE DETECTION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Seagrass change, 2019 → 2024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one classifier to both years and differencing the results yields four change categories — the “loss” layer becomes the single most heavily weighted threat factor in the risk model.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938528" cy="1965960"/>
          </a:xfrm>
          <a:prstGeom prst="roundRect">
            <a:avLst>
              <a:gd name="adj" fmla="val 3774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25296" y="2331720"/>
            <a:ext cx="585216" cy="585216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081528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Stable non-seagrass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76656" y="3520440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 / unvegetated bottom in both years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60904" y="2057400"/>
            <a:ext cx="1938528" cy="1965960"/>
          </a:xfrm>
          <a:prstGeom prst="roundRect">
            <a:avLst>
              <a:gd name="adj" fmla="val 3774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2331720"/>
            <a:ext cx="585216" cy="585216"/>
          </a:xfrm>
          <a:prstGeom prst="ellipse">
            <a:avLst/>
          </a:prstGeom>
          <a:solidFill>
            <a:srgbClr val="1B7A4A"/>
          </a:solidFill>
          <a:ln/>
        </p:spPr>
      </p:sp>
      <p:sp>
        <p:nvSpPr>
          <p:cNvPr id="11" name="Text 9"/>
          <p:cNvSpPr/>
          <p:nvPr/>
        </p:nvSpPr>
        <p:spPr>
          <a:xfrm>
            <a:off x="2752344" y="3081528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Stable seagrass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88920" y="3520440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meadow — the reliable core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73168" y="2057400"/>
            <a:ext cx="1938528" cy="1965960"/>
          </a:xfrm>
          <a:prstGeom prst="roundRect">
            <a:avLst>
              <a:gd name="adj" fmla="val 3774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49824" y="2331720"/>
            <a:ext cx="585216" cy="585216"/>
          </a:xfrm>
          <a:prstGeom prst="ellipse">
            <a:avLst/>
          </a:prstGeom>
          <a:solidFill>
            <a:srgbClr val="2C7BB6"/>
          </a:solidFill>
          <a:ln/>
        </p:spPr>
      </p:sp>
      <p:sp>
        <p:nvSpPr>
          <p:cNvPr id="15" name="Text 13"/>
          <p:cNvSpPr/>
          <p:nvPr/>
        </p:nvSpPr>
        <p:spPr>
          <a:xfrm>
            <a:off x="4864608" y="3081528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Gain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01184" y="3520440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seagrass detected by 2024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85432" y="2057400"/>
            <a:ext cx="1938528" cy="1965960"/>
          </a:xfrm>
          <a:prstGeom prst="roundRect">
            <a:avLst>
              <a:gd name="adj" fmla="val 3774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562088" y="2331720"/>
            <a:ext cx="585216" cy="585216"/>
          </a:xfrm>
          <a:prstGeom prst="ellipse">
            <a:avLst/>
          </a:prstGeom>
          <a:solidFill>
            <a:srgbClr val="D7191C"/>
          </a:solidFill>
          <a:ln/>
        </p:spPr>
      </p:sp>
      <p:sp>
        <p:nvSpPr>
          <p:cNvPr id="19" name="Text 17"/>
          <p:cNvSpPr/>
          <p:nvPr/>
        </p:nvSpPr>
        <p:spPr>
          <a:xfrm>
            <a:off x="6976872" y="3081528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013448" y="3520440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Seagrass present in 2019, gone by 2024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loss is measured, not assumed, hotspots dominated by “loss” are flagged transparently for read-alongside with classifier accuracy.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  ·  RISK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risk equation, in one line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280160" y="1554480"/>
            <a:ext cx="6583680" cy="1051560"/>
          </a:xfrm>
          <a:prstGeom prst="roundRect">
            <a:avLst>
              <a:gd name="adj" fmla="val 8696"/>
            </a:avLst>
          </a:prstGeom>
          <a:solidFill>
            <a:srgbClr val="12325A"/>
          </a:solidFill>
          <a:ln/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554480"/>
            <a:ext cx="6583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FC1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</a:t>
            </a:r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=  </a:t>
            </a:r>
            <a:pPr algn="ctr" indent="0" marL="0">
              <a:buNone/>
            </a:pPr>
            <a:r>
              <a:rPr lang="en-US" sz="3400" b="1" dirty="0">
                <a:solidFill>
                  <a:srgbClr val="8FC1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</a:t>
            </a:r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×  </a:t>
            </a:r>
            <a:pPr algn="ctr" indent="0" marL="0">
              <a:buNone/>
            </a:pPr>
            <a:r>
              <a:rPr lang="en-US" sz="3400" b="1" dirty="0">
                <a:solidFill>
                  <a:srgbClr val="F0A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exposure × consequence structure (after Halpern et al. 2008 / InVEST HRA): a location scores high only when valuable habitat and real pressure coincide.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383280"/>
            <a:ext cx="3703320" cy="1051560"/>
          </a:xfrm>
          <a:prstGeom prst="roundRect">
            <a:avLst>
              <a:gd name="adj" fmla="val 6087"/>
            </a:avLst>
          </a:prstGeom>
          <a:solidFill>
            <a:srgbClr val="12325A"/>
          </a:solidFill>
          <a:ln/>
        </p:spPr>
      </p:sp>
      <p:sp>
        <p:nvSpPr>
          <p:cNvPr id="8" name="Shape 6"/>
          <p:cNvSpPr/>
          <p:nvPr/>
        </p:nvSpPr>
        <p:spPr>
          <a:xfrm>
            <a:off x="768096" y="367588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3785616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3566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 (what’s at stake)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371600" y="387705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Seagrass presence, weighted up to ~1.7× where dugong use is highest.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892040" y="3383280"/>
            <a:ext cx="3703320" cy="1051560"/>
          </a:xfrm>
          <a:prstGeom prst="roundRect">
            <a:avLst>
              <a:gd name="adj" fmla="val 6087"/>
            </a:avLst>
          </a:prstGeom>
          <a:solidFill>
            <a:srgbClr val="12325A"/>
          </a:solidFill>
          <a:ln/>
        </p:spPr>
      </p:sp>
      <p:sp>
        <p:nvSpPr>
          <p:cNvPr id="13" name="Shape 10"/>
          <p:cNvSpPr/>
          <p:nvPr/>
        </p:nvSpPr>
        <p:spPr>
          <a:xfrm>
            <a:off x="5111496" y="367588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1224" y="3785616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715000" y="3566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  (what acts on it)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715000" y="387705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weighted sum of five normalised 0–1 pressure factors.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  ·  VALUE LAYER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all seagrass is equally at stake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4F9F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 =  SeagrassPresence  ×  (0.6  +  0.4 × DugongUse)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30428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242316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22860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Presence from classification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25880" y="2587752"/>
            <a:ext cx="7269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SeagrassPresence comes directly from the 2024 Random Forest output — no seagrass, no value.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640080" y="3145536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326440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31272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Dugong use, by distance-decay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25880" y="3429000"/>
            <a:ext cx="7269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continuous 0–1 surface built outward from documented high-density anchors: Marawah core, Bu Tinah, central foraging grounds.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640080" y="3986784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105656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5880" y="396849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Weighted, but never zero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325880" y="4270248"/>
            <a:ext cx="7269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Seagrass in a known dugong core is weighted up to ~1.7× more than at the reserve’s edge — yet every pixel keeps some value, since the whole AOI is prime habitat.</a:t>
            </a:r>
            <a:endParaRPr lang="en-US" sz="1080" dirty="0"/>
          </a:p>
        </p:txBody>
      </p:sp>
      <p:sp>
        <p:nvSpPr>
          <p:cNvPr id="18" name="Text 13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  ·  THREAT LAYER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weighted, justified factors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factor is normalised 0–1; distance factors use exp(−distance/λ) with factor-specific decay lengths (λ ≈ 3–5 km). Every weight is documented in RISK_METHODOLOGY.md.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10512"/>
          <a:ext cx="80467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65760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Threat factor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Measured as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Weight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Observed seagrass loss (2019→2024)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Smoothed density of “loss” change pixels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7191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0.30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Coastal development / dredging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Distance-decay from mapped development points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0.20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Thermal stress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Landsat summer surface temperature, water-masked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0.20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Desalination / industrial discharge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Distance-decay from mapped discharge points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0.15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Vessel / navigation pressure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Distance-decay from ports, landings, routes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0.15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carries the highest weight because measured decline is the strongest evidence of habitat already failing.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  ·  TRACK C CODE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risk model, in real code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49240" cy="3246120"/>
          </a:xfrm>
          <a:prstGeom prst="roundRect">
            <a:avLst>
              <a:gd name="adj" fmla="val 1690"/>
            </a:avLst>
          </a:prstGeom>
          <a:solidFill>
            <a:srgbClr val="0A1A30"/>
          </a:solidFill>
          <a:ln/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481328"/>
            <a:ext cx="5020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E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C_risk_gis / Dugong_Habitat_Risk.ipynb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94944" y="1755648"/>
            <a:ext cx="5056632" cy="273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distance-decay pressure:  exp(-d / lambda)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C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decay(fc, lam_m):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C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 = fc.distance(searchRadius=100000)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C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d.divide(lam_m).multiply(-1).exp().clamp(0,1)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C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WEIGHTS = {"loss":0.30, "development":0.20,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C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"thermal":0.20, "discharge":0.15, "vessel":0.15}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VALUE = seagrass x dugong-use weight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C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= seagrass.multiply(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C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dugong_use.multiply(0.4).add(0.6))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THREAT = weighted sum of 5 normalized factors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C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threat = (T1.multiply(0.30).add(T2.multiply(0.20))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C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.add(T3.multiply(0.20)).add(T4.multiply(0.15))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C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.add(T5.multiply(0.15)))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C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= normalize(value.multiply(threat))  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0..1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144768" y="148132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7064" y="1563624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629400" y="1463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constant is visible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17373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black box — the five weights and the decay lengths are literals you can read, question, and change.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144768" y="253288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064" y="2615184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629400" y="2514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gates threat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629400" y="27889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Multiplying value × threat means pressure over bare seabed scores ~0; only pressure on real habitat counts.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144768" y="358444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3666744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29400" y="3566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Normalised, reproducible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629400" y="38404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factors are scaled 0–1 over the AOI, so the final index is a clean relative ranking.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  ·  OUTPUT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105 ranked hotspots, not a generic map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53619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7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105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12140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hotspots ≥ 5 ha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2286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303580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18.5–7,049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8368" y="3520440"/>
            <a:ext cx="2066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hectare range across hotspots; dominant threats: vessels, development, loss</a:t>
            </a:r>
            <a:endParaRPr lang="en-US" sz="1000" dirty="0"/>
          </a:p>
        </p:txBody>
      </p:sp>
      <p:pic>
        <p:nvPicPr>
          <p:cNvPr id="10" name="Image 0" descr="C:\Users\Abdul\Documents\University\DUBAI\dugong-uae\D_dashboard\figures\C4_hotspot_rank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50015" y="1440180"/>
            <a:ext cx="5021410" cy="30632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MAP  ·  WHY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risk sits where it does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attributes every hotspot to a dominant driver. Across the top-ranked hotspots, two pressures stand out — and they line up with what the map shows.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8046720" cy="886968"/>
          </a:xfrm>
          <a:prstGeom prst="roundRect">
            <a:avLst>
              <a:gd name="adj" fmla="val 6186"/>
            </a:avLst>
          </a:prstGeom>
          <a:solidFill>
            <a:srgbClr val="F4F9FB"/>
          </a:solidFill>
          <a:ln/>
        </p:spPr>
      </p:sp>
      <p:sp>
        <p:nvSpPr>
          <p:cNvPr id="6" name="Shape 4"/>
          <p:cNvSpPr/>
          <p:nvPr/>
        </p:nvSpPr>
        <p:spPr>
          <a:xfrm>
            <a:off x="768096" y="205740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167128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93852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Vessel pressure — the biggest zone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417320" y="2212848"/>
            <a:ext cx="708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largest high-risk hotspot (7,184 ha) is vessel-dominated: the central navigation channel where propeller and grounding damage hit shallow foraging beds. It is the red streak visible on the dashboard.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" y="2788920"/>
            <a:ext cx="8046720" cy="886968"/>
          </a:xfrm>
          <a:prstGeom prst="roundRect">
            <a:avLst>
              <a:gd name="adj" fmla="val 6186"/>
            </a:avLst>
          </a:prstGeom>
          <a:solidFill>
            <a:srgbClr val="F4F9FB"/>
          </a:solidFill>
          <a:ln/>
        </p:spPr>
      </p:sp>
      <p:sp>
        <p:nvSpPr>
          <p:cNvPr id="11" name="Shape 8"/>
          <p:cNvSpPr/>
          <p:nvPr/>
        </p:nvSpPr>
        <p:spPr>
          <a:xfrm>
            <a:off x="768096" y="30175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312724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17320" y="289864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Observed loss — the heaviest weight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1417320" y="3172968"/>
            <a:ext cx="708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2019→2024 seagrass decline carries the highest weight (0.30). Loss-dominated hotspots mark meadows already retreating, where intervention is most time-critical.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48640" y="3749040"/>
            <a:ext cx="8046720" cy="886968"/>
          </a:xfrm>
          <a:prstGeom prst="roundRect">
            <a:avLst>
              <a:gd name="adj" fmla="val 6186"/>
            </a:avLst>
          </a:prstGeom>
          <a:solidFill>
            <a:srgbClr val="F4F9FB"/>
          </a:solidFill>
          <a:ln/>
        </p:spPr>
      </p:sp>
      <p:sp>
        <p:nvSpPr>
          <p:cNvPr id="16" name="Shape 12"/>
          <p:cNvSpPr/>
          <p:nvPr/>
        </p:nvSpPr>
        <p:spPr>
          <a:xfrm>
            <a:off x="768096" y="3977640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4087368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385876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Coastal development — small but intense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1417320" y="4133088"/>
            <a:ext cx="708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Development-dominated hotspots are smaller yet carry the highest mean-risk values (up to ~0.57), clustered along the developed south-east shoreline.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risk model trustworthy?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classifier accuracy, we ran three independent tests of whether the risk output is real signal — not an artefact of the parameters we chose.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587752" cy="2514600"/>
          </a:xfrm>
          <a:prstGeom prst="roundRect">
            <a:avLst>
              <a:gd name="adj" fmla="val 2909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2112264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2402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44752" y="2203704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Face validity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68096" y="2843784"/>
            <a:ext cx="2167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mean risk fall with distance from a real discharge point, as the model’s own construction should produce?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68096" y="3776472"/>
            <a:ext cx="2148840" cy="457200"/>
          </a:xfrm>
          <a:prstGeom prst="roundRect">
            <a:avLst>
              <a:gd name="adj" fmla="val 10000"/>
            </a:avLst>
          </a:prstGeom>
          <a:solidFill>
            <a:srgbClr val="E3F2EC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3776472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~0.26 near, ~0.09–0.14 far</a:t>
            </a:r>
            <a:endParaRPr lang="en-US" sz="980" dirty="0"/>
          </a:p>
        </p:txBody>
      </p:sp>
      <p:sp>
        <p:nvSpPr>
          <p:cNvPr id="12" name="Shape 9"/>
          <p:cNvSpPr/>
          <p:nvPr/>
        </p:nvSpPr>
        <p:spPr>
          <a:xfrm>
            <a:off x="3319272" y="1874520"/>
            <a:ext cx="2587752" cy="2514600"/>
          </a:xfrm>
          <a:prstGeom prst="roundRect">
            <a:avLst>
              <a:gd name="adj" fmla="val 2909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38728" y="2112264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744" y="2240280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215384" y="2203704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Zonal comparison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538728" y="2843784"/>
            <a:ext cx="2167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mean risk inside the documented dugong core meaningfully higher than the reserve-wide average?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538728" y="3776472"/>
            <a:ext cx="2148840" cy="457200"/>
          </a:xfrm>
          <a:prstGeom prst="roundRect">
            <a:avLst>
              <a:gd name="adj" fmla="val 10000"/>
            </a:avLst>
          </a:prstGeom>
          <a:solidFill>
            <a:srgbClr val="E3F2EC"/>
          </a:solidFill>
          <a:ln/>
        </p:spPr>
      </p:sp>
      <p:sp>
        <p:nvSpPr>
          <p:cNvPr id="18" name="Text 14"/>
          <p:cNvSpPr/>
          <p:nvPr/>
        </p:nvSpPr>
        <p:spPr>
          <a:xfrm>
            <a:off x="3593592" y="3776472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3× higher in the core</a:t>
            </a:r>
            <a:endParaRPr lang="en-US" sz="980" dirty="0"/>
          </a:p>
        </p:txBody>
      </p:sp>
      <p:sp>
        <p:nvSpPr>
          <p:cNvPr id="19" name="Shape 15"/>
          <p:cNvSpPr/>
          <p:nvPr/>
        </p:nvSpPr>
        <p:spPr>
          <a:xfrm>
            <a:off x="6089904" y="1874520"/>
            <a:ext cx="2587752" cy="2514600"/>
          </a:xfrm>
          <a:prstGeom prst="roundRect">
            <a:avLst>
              <a:gd name="adj" fmla="val 2909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309360" y="2112264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2240280"/>
            <a:ext cx="292608" cy="2926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986016" y="2203704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Weight sensitivity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309360" y="2843784"/>
            <a:ext cx="2167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flagged hotspots survive perturbing each of the five weights by ±10%?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6309360" y="3776472"/>
            <a:ext cx="2148840" cy="457200"/>
          </a:xfrm>
          <a:prstGeom prst="roundRect">
            <a:avLst>
              <a:gd name="adj" fmla="val 10000"/>
            </a:avLst>
          </a:prstGeom>
          <a:solidFill>
            <a:srgbClr val="E3F2EC"/>
          </a:solidFill>
          <a:ln/>
        </p:spPr>
      </p:sp>
      <p:sp>
        <p:nvSpPr>
          <p:cNvPr id="25" name="Text 20"/>
          <p:cNvSpPr/>
          <p:nvPr/>
        </p:nvSpPr>
        <p:spPr>
          <a:xfrm>
            <a:off x="6364224" y="3776472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≤ 3% change in high-risk area</a:t>
            </a:r>
            <a:endParaRPr lang="en-US" sz="980" dirty="0"/>
          </a:p>
        </p:txBody>
      </p:sp>
      <p:sp>
        <p:nvSpPr>
          <p:cNvPr id="26" name="Text 21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 ·  ZONAL COMPARISON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targets where dugongs actually are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3200400" cy="2194560"/>
          </a:xfrm>
          <a:prstGeom prst="roundRect">
            <a:avLst>
              <a:gd name="adj" fmla="val 4167"/>
            </a:avLst>
          </a:prstGeom>
          <a:solidFill>
            <a:srgbClr val="12325A"/>
          </a:solidFill>
          <a:ln/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659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0A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0.461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005840" y="29260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risk inside the documented dugong core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120640" y="1691640"/>
            <a:ext cx="3200400" cy="2194560"/>
          </a:xfrm>
          <a:prstGeom prst="roundRect">
            <a:avLst>
              <a:gd name="adj" fmla="val 4167"/>
            </a:avLst>
          </a:prstGeom>
          <a:solidFill>
            <a:srgbClr val="12325A"/>
          </a:solidFill>
          <a:ln/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120640" y="19659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8FC1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0.153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303520" y="29260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risk across the whole study area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0" y="2423160"/>
            <a:ext cx="914400" cy="731520"/>
          </a:xfrm>
          <a:prstGeom prst="ellipse">
            <a:avLst/>
          </a:prstGeom>
          <a:solidFill>
            <a:srgbClr val="D7191C"/>
          </a:solidFill>
          <a:ln/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0" y="24231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3×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914400" y="4114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the result a correct model should produce: risk concentrates where valuable habitat and real pressure meet — not spread uniformly, and not at random.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 ·  WEIGHT SENSITIVITY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hotspots survive stress-testing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 five weights was perturbed ±0.10 (re-normalised to sum to 1.0) and the high-risk area recomputed. No perturbation moved it by more than 3% off the 10,681.5 ha baseline.</a:t>
            </a:r>
            <a:endParaRPr lang="en-US" sz="1250" dirty="0"/>
          </a:p>
        </p:txBody>
      </p:sp>
      <p:pic>
        <p:nvPicPr>
          <p:cNvPr id="5" name="Image 0" descr="C:\Users\Abdul\Documents\University\DUBAI\dugong-uae\D_dashboard\figures\C5_weight_sensi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4754880" cy="284353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23560" y="1920240"/>
            <a:ext cx="2971800" cy="2606040"/>
          </a:xfrm>
          <a:prstGeom prst="roundRect">
            <a:avLst>
              <a:gd name="adj" fmla="val 2807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852160" y="2103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852160" y="2487168"/>
            <a:ext cx="2560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3%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in high-risk area for any single-weight ±10% shift.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but equally defensible weighting would produce a similar ranking. The output is robust — not an artefact of one arbitrary set of assumptions.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  ·  REAL OUTPUT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code actually prints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mock-ups — these are the real printed results from re-running the notebooks end-to-end against live Earth Engine data.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257800" cy="2834640"/>
          </a:xfrm>
          <a:prstGeom prst="roundRect">
            <a:avLst>
              <a:gd name="adj" fmla="val 1935"/>
            </a:avLst>
          </a:prstGeom>
          <a:solidFill>
            <a:srgbClr val="0A1A30"/>
          </a:solidFill>
          <a:ln/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1892808"/>
            <a:ext cx="4928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jupyter  ·  pipeline output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94944" y="2167128"/>
            <a:ext cx="4965192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C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 RANDOM FOREST CLASSIFICATION SUMMARY =====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C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Overall Accuracy : 85.32%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C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Kappa            : 0.696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C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Producer (Seagrass) : 82.02%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C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 (Seagrass)     : 82.02%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C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breaks (risk): [0.049, 0.092, 0.158, 0.24]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C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Hotspot patches (&gt;= 5 ha): 105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C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Baseline high-risk area: 10681.5 ha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C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vessel      +0.10 -&gt; high-risk  +3%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C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development -0.10 -&gt; high-risk  +3%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C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 all perturbations within +/-3%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035040" y="1874520"/>
            <a:ext cx="2560320" cy="822960"/>
          </a:xfrm>
          <a:prstGeom prst="roundRect">
            <a:avLst>
              <a:gd name="adj" fmla="val 7778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199632" y="1984248"/>
            <a:ext cx="1024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85.32%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269480" y="2002536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classifier accuracy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35040" y="2807208"/>
            <a:ext cx="2560320" cy="822960"/>
          </a:xfrm>
          <a:prstGeom prst="roundRect">
            <a:avLst>
              <a:gd name="adj" fmla="val 7778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99632" y="2916936"/>
            <a:ext cx="1024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7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105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269480" y="2935224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hotspots extracted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3739896"/>
            <a:ext cx="2560320" cy="822960"/>
          </a:xfrm>
          <a:prstGeom prst="roundRect">
            <a:avLst>
              <a:gd name="adj" fmla="val 7778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99632" y="3849624"/>
            <a:ext cx="1024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3%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269480" y="3867912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to any weight ±10%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  ·  DELIVERY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dashboard for decision-makers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114800" cy="3063240"/>
          </a:xfrm>
          <a:prstGeom prst="roundRect">
            <a:avLst>
              <a:gd name="adj" fmla="val 2388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risk map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1965960"/>
            <a:ext cx="3657600" cy="2240280"/>
          </a:xfrm>
          <a:prstGeom prst="roundRect">
            <a:avLst>
              <a:gd name="adj" fmla="val 2449"/>
            </a:avLst>
          </a:prstGeom>
          <a:solidFill>
            <a:srgbClr val="133A5C"/>
          </a:solidFill>
          <a:ln/>
        </p:spPr>
      </p:sp>
      <p:sp>
        <p:nvSpPr>
          <p:cNvPr id="7" name="Shape 5"/>
          <p:cNvSpPr/>
          <p:nvPr/>
        </p:nvSpPr>
        <p:spPr>
          <a:xfrm>
            <a:off x="987552" y="2148840"/>
            <a:ext cx="256032" cy="256032"/>
          </a:xfrm>
          <a:prstGeom prst="rect">
            <a:avLst/>
          </a:prstGeom>
          <a:solidFill>
            <a:srgbClr val="2C7BB6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213055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87552" y="2514600"/>
            <a:ext cx="256032" cy="256032"/>
          </a:xfrm>
          <a:prstGeom prst="rect">
            <a:avLst/>
          </a:prstGeom>
          <a:solidFill>
            <a:srgbClr val="ABD9E9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249631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87552" y="2880360"/>
            <a:ext cx="256032" cy="256032"/>
          </a:xfrm>
          <a:prstGeom prst="rect">
            <a:avLst/>
          </a:prstGeom>
          <a:solidFill>
            <a:srgbClr val="FFFFBF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286207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87552" y="3246120"/>
            <a:ext cx="256032" cy="256032"/>
          </a:xfrm>
          <a:prstGeom prst="rect">
            <a:avLst/>
          </a:prstGeom>
          <a:solidFill>
            <a:srgbClr val="FDAE61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322783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87552" y="3611880"/>
            <a:ext cx="256032" cy="256032"/>
          </a:xfrm>
          <a:prstGeom prst="rect">
            <a:avLst/>
          </a:prstGeom>
          <a:solidFill>
            <a:srgbClr val="D7191C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359359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37760" y="141732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6632" y="1536192"/>
            <a:ext cx="274320" cy="2743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577840" y="141732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Ranked hotspots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577840" y="172821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5-class risk map with click-through detail on each ranked patch.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937760" y="2459736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632" y="2578608"/>
            <a:ext cx="274320" cy="27432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577840" y="245973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Toggleable threat layers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5577840" y="277063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areas, dugong cores, discharge, development, vessels.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4937760" y="3502152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6632" y="3621024"/>
            <a:ext cx="274320" cy="27432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577840" y="350215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Drill-down analysis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5577840" y="381304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risk index and threat-pressure surfaces underneath.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  ·  LIVE PROTOTYPE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dashboard prototype, running on live data</a:t>
            </a:r>
            <a:endParaRPr lang="en-US" sz="2400" dirty="0"/>
          </a:p>
        </p:txBody>
      </p:sp>
      <p:pic>
        <p:nvPicPr>
          <p:cNvPr id="4" name="Image 0" descr="C:\Users\Abdul\AppData\Local\Temp\claude\C--Users-Abdul-Documents-University-HAck-Backend\4bc23196-3e33-4012-9b9c-627321c7a2e3\scratchpad\deck\dashboard_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4869180" cy="3246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599432"/>
            <a:ext cx="4869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Esri satellite basemap · Earth Engine risk tiles · Marawah / Bu Tinah AOI · 105 hotspot markers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6537960" y="1371600"/>
            <a:ext cx="2057400" cy="1005840"/>
          </a:xfrm>
          <a:prstGeom prst="roundRect">
            <a:avLst>
              <a:gd name="adj" fmla="val 5455"/>
            </a:avLst>
          </a:prstGeom>
          <a:solidFill>
            <a:srgbClr val="12325A"/>
          </a:solidFill>
          <a:ln/>
        </p:spPr>
      </p:sp>
      <p:sp>
        <p:nvSpPr>
          <p:cNvPr id="7" name="Text 4"/>
          <p:cNvSpPr/>
          <p:nvPr/>
        </p:nvSpPr>
        <p:spPr>
          <a:xfrm>
            <a:off x="6693408" y="148132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risk tiles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693408" y="18288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blue→red gradient is the live Earth Engine risk model, not a static picture.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537960" y="2468880"/>
            <a:ext cx="2057400" cy="1005840"/>
          </a:xfrm>
          <a:prstGeom prst="roundRect">
            <a:avLst>
              <a:gd name="adj" fmla="val 5455"/>
            </a:avLst>
          </a:prstGeom>
          <a:solidFill>
            <a:srgbClr val="12325A"/>
          </a:solidFill>
          <a:ln/>
        </p:spPr>
      </p:sp>
      <p:sp>
        <p:nvSpPr>
          <p:cNvPr id="10" name="Text 7"/>
          <p:cNvSpPr/>
          <p:nvPr/>
        </p:nvSpPr>
        <p:spPr>
          <a:xfrm>
            <a:off x="6693408" y="257860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red streak = the driver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693408" y="29260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Very-High corridor is the vessel channel — you can see the top hotspot’s cause.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537960" y="3566160"/>
            <a:ext cx="2057400" cy="1005840"/>
          </a:xfrm>
          <a:prstGeom prst="roundRect">
            <a:avLst>
              <a:gd name="adj" fmla="val 5455"/>
            </a:avLst>
          </a:prstGeom>
          <a:solidFill>
            <a:srgbClr val="12325A"/>
          </a:solidFill>
          <a:ln/>
        </p:spPr>
      </p:sp>
      <p:sp>
        <p:nvSpPr>
          <p:cNvPr id="13" name="Text 10"/>
          <p:cNvSpPr/>
          <p:nvPr/>
        </p:nvSpPr>
        <p:spPr>
          <a:xfrm>
            <a:off x="6693408" y="367588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non-experts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693408" y="40233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layers, click any hotspot for its rank, area, mean risk, and dominant threat.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MAP  ·  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risk to response: what the map enables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dominant driver points to a concrete, targeted intervention — and the ranking says where to do it first. These are recommendations the output supports, not actions taken.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950208" cy="1298448"/>
          </a:xfrm>
          <a:prstGeom prst="roundRect">
            <a:avLst>
              <a:gd name="adj" fmla="val 4225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2020824"/>
            <a:ext cx="493776" cy="493776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139696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26464" y="1965960"/>
            <a:ext cx="2898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Vessel pressure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426464" y="2276856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speed / no-wake zones and re-routing around the central foraging channel; targeted mooring-buoy placement.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36592" y="1783080"/>
            <a:ext cx="3950208" cy="1298448"/>
          </a:xfrm>
          <a:prstGeom prst="roundRect">
            <a:avLst>
              <a:gd name="adj" fmla="val 4225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56048" y="2020824"/>
            <a:ext cx="493776" cy="49377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2139696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14416" y="1965960"/>
            <a:ext cx="2898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Observed loss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614416" y="2276856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monitoring and seagrass restoration on loss-dominated hotspots; re-run change detection to track recovery.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48640" y="3264408"/>
            <a:ext cx="3950208" cy="1298448"/>
          </a:xfrm>
          <a:prstGeom prst="roundRect">
            <a:avLst>
              <a:gd name="adj" fmla="val 4225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68096" y="3502152"/>
            <a:ext cx="493776" cy="493776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621024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26464" y="3447288"/>
            <a:ext cx="2898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Coastal development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1426464" y="3758184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dredging permits and set buffer zones around the high-value hotspots nearest the shore.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736592" y="3264408"/>
            <a:ext cx="3950208" cy="1298448"/>
          </a:xfrm>
          <a:prstGeom prst="roundRect">
            <a:avLst>
              <a:gd name="adj" fmla="val 4225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956048" y="3502152"/>
            <a:ext cx="493776" cy="493776"/>
          </a:xfrm>
          <a:prstGeom prst="ellipse">
            <a:avLst/>
          </a:prstGeom>
          <a:solidFill>
            <a:srgbClr val="D7191C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621024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614416" y="3447288"/>
            <a:ext cx="2898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Thermal &amp; discharge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5614416" y="3758184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 into siting of new desalination / industrial outfalls; protect cooler thermal-refuge meadows.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IT’S DIFFERENT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beats a survey or generic index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481328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habitat survey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063240" y="1371600"/>
            <a:ext cx="365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474720" y="146304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living monitoring baseline 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Re-runs on new imagery at ~zero marginal cost — tracks whether hotspots stabilise or worsen.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212848"/>
            <a:ext cx="80467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322576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seagrass extent map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63240" y="2212848"/>
            <a:ext cx="365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74720" y="230428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conditioned on dugong use 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Shows where loss would matter for dugongs, not just where seagrass happens to be.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054096"/>
            <a:ext cx="80467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3163824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environmental index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63240" y="3054096"/>
            <a:ext cx="365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74720" y="314553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× threat, both explicit 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Only scores high where habitat value and real pressure coincide — and every weight is documented.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895344"/>
            <a:ext cx="80467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400507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model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63240" y="3895344"/>
            <a:ext cx="365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474720" y="3986784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Audited &amp; stress-tested 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Three validation checks; every weight perturbed ±10%; all code and data reproducible.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·  LOCAL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Abu Dhabi: an evidence-based start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8046720" cy="960120"/>
          </a:xfrm>
          <a:prstGeom prst="roundRect">
            <a:avLst>
              <a:gd name="adj" fmla="val 6667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7335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83080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563624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Prioritised action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417320" y="1874520"/>
            <a:ext cx="708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105 concrete locations by habitat value × real pressure — directly informs where a boundary review, dredging permit condition, or monitoring buoy should go first.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468880"/>
            <a:ext cx="8046720" cy="960120"/>
          </a:xfrm>
          <a:prstGeom prst="roundRect">
            <a:avLst>
              <a:gd name="adj" fmla="val 6667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272491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834640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615184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repeatable baseline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417320" y="2926080"/>
            <a:ext cx="708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free, continuously updated imagery — re-run in any future year at near-zero cost to track whether hotspots are stabilising or worsening.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520440"/>
            <a:ext cx="8046720" cy="960120"/>
          </a:xfrm>
          <a:prstGeom prst="roundRect">
            <a:avLst>
              <a:gd name="adj" fmla="val 6667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377647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886200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666744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Serves the reserve’s mandate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417320" y="3977640"/>
            <a:ext cx="708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3× zonal finding gives Marawah’s UNESCO / MPA evidence-based mandate a concrete, quantified starting point — not just “the core matters.”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·  REGIONAL &amp; GLOBAL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reusable model, not a one-off map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exposure × consequence structure, the threat factors, and the validation approach are not specific to seagrass or the Arabian Gulf.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587752" cy="2423160"/>
          </a:xfrm>
          <a:prstGeom prst="roundRect">
            <a:avLst>
              <a:gd name="adj" fmla="val 3019"/>
            </a:avLst>
          </a:prstGeom>
          <a:solidFill>
            <a:srgbClr val="12325A"/>
          </a:solidFill>
          <a:ln/>
        </p:spPr>
      </p:sp>
      <p:sp>
        <p:nvSpPr>
          <p:cNvPr id="6" name="Shape 4"/>
          <p:cNvSpPr/>
          <p:nvPr/>
        </p:nvSpPr>
        <p:spPr>
          <a:xfrm>
            <a:off x="768096" y="2249424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368296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8096" y="2907792"/>
            <a:ext cx="216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Transferable structure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68096" y="3383280"/>
            <a:ext cx="21671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a habitat-value layer with a weighted, distance-decayed threat overlay, validate against ground truth, stress-test the weights — applies to any satellite-visible, single-species habitat.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19272" y="2011680"/>
            <a:ext cx="2587752" cy="2423160"/>
          </a:xfrm>
          <a:prstGeom prst="roundRect">
            <a:avLst>
              <a:gd name="adj" fmla="val 3019"/>
            </a:avLst>
          </a:prstGeom>
          <a:solidFill>
            <a:srgbClr val="12325A"/>
          </a:solidFill>
          <a:ln/>
        </p:spPr>
      </p:sp>
      <p:sp>
        <p:nvSpPr>
          <p:cNvPr id="11" name="Shape 8"/>
          <p:cNvSpPr/>
          <p:nvPr/>
        </p:nvSpPr>
        <p:spPr>
          <a:xfrm>
            <a:off x="3538728" y="2249424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2368296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38728" y="2907792"/>
            <a:ext cx="216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species &amp; regions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538728" y="3383280"/>
            <a:ext cx="21671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Dugongs elsewhere in the Indo-Pacific, manatee seagrass in the Americas, or any coastal species tied to a mappable habitat type.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089904" y="2011680"/>
            <a:ext cx="2587752" cy="2423160"/>
          </a:xfrm>
          <a:prstGeom prst="roundRect">
            <a:avLst>
              <a:gd name="adj" fmla="val 3019"/>
            </a:avLst>
          </a:prstGeom>
          <a:solidFill>
            <a:srgbClr val="12325A"/>
          </a:solidFill>
          <a:ln/>
        </p:spPr>
      </p:sp>
      <p:sp>
        <p:nvSpPr>
          <p:cNvPr id="16" name="Shape 12"/>
          <p:cNvSpPr/>
          <p:nvPr/>
        </p:nvSpPr>
        <p:spPr>
          <a:xfrm>
            <a:off x="6309360" y="2249424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2368296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09360" y="2907792"/>
            <a:ext cx="216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tools lower the barrier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309360" y="3383280"/>
            <a:ext cx="21671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/ Landsat via Earth Engine + open-source Python. The barrier to adoption is know-how, not cost or licensing — key for lower-resource programmes.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 ·  SCALING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Scaling: same pipeline, wider reach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every input is free and every step is code, scaling is a matter of pointing the pipeline at more area, more years, or another species — not buying more data.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587752" cy="2514600"/>
          </a:xfrm>
          <a:prstGeom prst="roundRect">
            <a:avLst>
              <a:gd name="adj" fmla="val 2909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76756" y="2130552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0492" y="231343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008376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Geographic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" y="3355848"/>
            <a:ext cx="21854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from the AOI to all of Abu Dhabi’s coast, the wider Arabian Gulf, and other dugong / manatee habitats in the Indo-Pacific and Americas — no new data cost.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19272" y="1874520"/>
            <a:ext cx="2587752" cy="2514600"/>
          </a:xfrm>
          <a:prstGeom prst="roundRect">
            <a:avLst>
              <a:gd name="adj" fmla="val 2909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47388" y="2130552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124" y="2313432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10712" y="3008376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Temporal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520440" y="3355848"/>
            <a:ext cx="21854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each year as new imagery lands, turning a one-off assessment into a continuous monitoring baseline; the change-detection step is already built for it.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089904" y="1874520"/>
            <a:ext cx="2587752" cy="2514600"/>
          </a:xfrm>
          <a:prstGeom prst="roundRect">
            <a:avLst>
              <a:gd name="adj" fmla="val 2909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018020" y="2130552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756" y="2313432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81344" y="3008376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291072" y="3355848"/>
            <a:ext cx="21854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as a scheduled Earth Engine job and hand the dashboard to EAD; ingest official GIS layers to replace the schematic inputs.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 ·  IMPROVEMENTS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model goes next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87752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57276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682496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572768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the training gap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68096" y="2048256"/>
            <a:ext cx="2167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on the full 319-polygon non-seagrass set (a known pagination bug truncated it to 171).</a:t>
            </a:r>
            <a:endParaRPr lang="en-US" sz="930" dirty="0"/>
          </a:p>
        </p:txBody>
      </p:sp>
      <p:sp>
        <p:nvSpPr>
          <p:cNvPr id="9" name="Shape 6"/>
          <p:cNvSpPr/>
          <p:nvPr/>
        </p:nvSpPr>
        <p:spPr>
          <a:xfrm>
            <a:off x="3319272" y="1371600"/>
            <a:ext cx="2587752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20440" y="157276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168" y="1682496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96512" y="1572768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 at scale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538728" y="2048256"/>
            <a:ext cx="2167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wins on today’s ~1,000-sample tabular data; CNN / temporal models become worth it once more labels exist.</a:t>
            </a:r>
            <a:endParaRPr lang="en-US" sz="930" dirty="0"/>
          </a:p>
        </p:txBody>
      </p:sp>
      <p:sp>
        <p:nvSpPr>
          <p:cNvPr id="14" name="Shape 10"/>
          <p:cNvSpPr/>
          <p:nvPr/>
        </p:nvSpPr>
        <p:spPr>
          <a:xfrm>
            <a:off x="6089904" y="1371600"/>
            <a:ext cx="2587752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91072" y="157276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82496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67144" y="1572768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Richer threat layers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309360" y="2048256"/>
            <a:ext cx="2167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AIS vessel density, official discharge &amp; thermal plumes, bathymetry, and storm exposure.</a:t>
            </a:r>
            <a:endParaRPr lang="en-US" sz="930" dirty="0"/>
          </a:p>
        </p:txBody>
      </p:sp>
      <p:sp>
        <p:nvSpPr>
          <p:cNvPr id="19" name="Shape 14"/>
          <p:cNvSpPr/>
          <p:nvPr/>
        </p:nvSpPr>
        <p:spPr>
          <a:xfrm>
            <a:off x="548640" y="2852928"/>
            <a:ext cx="2587752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9808" y="305409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3163824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3054096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Calibrate to absolute risk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768096" y="3529584"/>
            <a:ext cx="2167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against field surveys to convert the relative index into a calibrated probability of loss.</a:t>
            </a:r>
            <a:endParaRPr lang="en-US" sz="930" dirty="0"/>
          </a:p>
        </p:txBody>
      </p:sp>
      <p:sp>
        <p:nvSpPr>
          <p:cNvPr id="24" name="Shape 18"/>
          <p:cNvSpPr/>
          <p:nvPr/>
        </p:nvSpPr>
        <p:spPr>
          <a:xfrm>
            <a:off x="3319272" y="2852928"/>
            <a:ext cx="2587752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520440" y="305409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0168" y="3163824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096512" y="3054096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Uncertainty maps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538728" y="3529584"/>
            <a:ext cx="2167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Per-pixel classification confidence and ensemble weighting, shown alongside the risk layer.</a:t>
            </a:r>
            <a:endParaRPr lang="en-US" sz="930" dirty="0"/>
          </a:p>
        </p:txBody>
      </p:sp>
      <p:sp>
        <p:nvSpPr>
          <p:cNvPr id="29" name="Shape 22"/>
          <p:cNvSpPr/>
          <p:nvPr/>
        </p:nvSpPr>
        <p:spPr>
          <a:xfrm>
            <a:off x="6089904" y="2852928"/>
            <a:ext cx="2587752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91072" y="305409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3163824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67144" y="3054096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Productionise delivery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309360" y="3529584"/>
            <a:ext cx="2167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map tiles or a hosted Earth Engine App so the dashboard never depends on expiring tokens.</a:t>
            </a:r>
            <a:endParaRPr lang="en-US" sz="930" dirty="0"/>
          </a:p>
        </p:txBody>
      </p:sp>
      <p:sp>
        <p:nvSpPr>
          <p:cNvPr id="34" name="Text 26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is — and what it isn’t, yet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transparent limitations section is part of the design philosophy, not a formality. Stated plainly: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950208" cy="1298448"/>
          </a:xfrm>
          <a:prstGeom prst="roundRect">
            <a:avLst>
              <a:gd name="adj" fmla="val 4225"/>
            </a:avLst>
          </a:prstGeom>
          <a:solidFill>
            <a:srgbClr val="F4F9F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89280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7008" y="1856232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 data is partly schematic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68096" y="2295144"/>
            <a:ext cx="3529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Built-infrastructure coordinates are real and verified; reserve boundary, dugong-density surface, and vessel routes are documented approximations pending official EAD GIS layers.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4736592" y="1691640"/>
            <a:ext cx="3950208" cy="1298448"/>
          </a:xfrm>
          <a:prstGeom prst="roundRect">
            <a:avLst>
              <a:gd name="adj" fmla="val 4225"/>
            </a:avLst>
          </a:prstGeom>
          <a:solidFill>
            <a:srgbClr val="F4F9F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18928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94960" y="1856232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known training-data gap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956048" y="2295144"/>
            <a:ext cx="3529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pagination bug truncated non-seagrass training polygons to 171 of the true 319. The download code is fixed; results shown were trained on the smaller set — retraining is a known next step.</a:t>
            </a:r>
            <a:endParaRPr lang="en-US" sz="980" dirty="0"/>
          </a:p>
        </p:txBody>
      </p:sp>
      <p:sp>
        <p:nvSpPr>
          <p:cNvPr id="13" name="Shape 9"/>
          <p:cNvSpPr/>
          <p:nvPr/>
        </p:nvSpPr>
        <p:spPr>
          <a:xfrm>
            <a:off x="548640" y="3172968"/>
            <a:ext cx="3950208" cy="1298448"/>
          </a:xfrm>
          <a:prstGeom prst="roundRect">
            <a:avLst>
              <a:gd name="adj" fmla="val 4225"/>
            </a:avLst>
          </a:prstGeom>
          <a:solidFill>
            <a:srgbClr val="F4F9FB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3374136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07008" y="3337560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Relative risk, not absolute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768096" y="3776472"/>
            <a:ext cx="3529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index ranks locations within the study area against each other; it is not a calibrated probability of habitat loss.</a:t>
            </a:r>
            <a:endParaRPr lang="en-US" sz="980" dirty="0"/>
          </a:p>
        </p:txBody>
      </p:sp>
      <p:sp>
        <p:nvSpPr>
          <p:cNvPr id="17" name="Shape 12"/>
          <p:cNvSpPr/>
          <p:nvPr/>
        </p:nvSpPr>
        <p:spPr>
          <a:xfrm>
            <a:off x="4736592" y="3172968"/>
            <a:ext cx="3950208" cy="1298448"/>
          </a:xfrm>
          <a:prstGeom prst="roundRect">
            <a:avLst>
              <a:gd name="adj" fmla="val 4225"/>
            </a:avLst>
          </a:prstGeom>
          <a:solidFill>
            <a:srgbClr val="F4F9FB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3374136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94960" y="3337560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field validation yet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4956048" y="3776472"/>
            <a:ext cx="3529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validation shows the method behaves sensibly; it does not confirm any individual hotspot’s on-the-ground condition. That needs a site visit or independent survey.</a:t>
            </a:r>
            <a:endParaRPr lang="en-US" sz="980" dirty="0"/>
          </a:p>
        </p:txBody>
      </p:sp>
      <p:sp>
        <p:nvSpPr>
          <p:cNvPr id="21" name="Text 15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prototype to deployed tool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50208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64592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6479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950208" y="1481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CE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444752" y="1591056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 official EAD GIS layers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444752" y="2048256"/>
            <a:ext cx="2852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schematic boundaries and surfaces with authoritative data — sharpens output without changing the method.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36592" y="1371600"/>
            <a:ext cx="3950208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56048" y="164592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76479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138160" y="1481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CE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5632704" y="1591056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Retrain on the full 319-polygon set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5632704" y="2048256"/>
            <a:ext cx="2852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the fixed download and retrain the classifier to close the known training-data gap.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48640" y="2944368"/>
            <a:ext cx="3950208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68096" y="3218688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33756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950208" y="30540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CE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1444752" y="3163824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Field-validate top hotspots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1444752" y="3621024"/>
            <a:ext cx="2852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Ground-truth a sample of ranked hotspots against recent survey data or a site visit.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736592" y="2944368"/>
            <a:ext cx="3950208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956048" y="3218688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337560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138160" y="30540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CE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5632704" y="3163824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Co-design with the agencies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5632704" y="3621024"/>
            <a:ext cx="2852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dashboard in front of the regulators and researchers who’d use it, and act on what “actionable” means to them.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2651760"/>
            <a:ext cx="3840480" cy="3840480"/>
          </a:xfrm>
          <a:prstGeom prst="ellipse">
            <a:avLst/>
          </a:prstGeom>
          <a:solidFill>
            <a:srgbClr val="0E2A4C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1280160"/>
            <a:ext cx="3291840" cy="3291840"/>
          </a:xfrm>
          <a:prstGeom prst="ellipse">
            <a:avLst/>
          </a:prstGeom>
          <a:solidFill>
            <a:srgbClr val="1232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658368" y="109728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92024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pixels to protection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58368" y="28803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reproducible, evidence-based way to rank where dugong conservation effort matters most — </a:t>
            </a:r>
            <a:pPr indent="0" marL="0">
              <a:buNone/>
            </a:pPr>
            <a:r>
              <a:rPr lang="en-US" sz="1600" b="1" dirty="0">
                <a:solidFill>
                  <a:srgbClr val="8FC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on free satellite data and open, auditable methodology.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85800" y="4315968"/>
            <a:ext cx="20116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4434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  ·  Marawah / Bu Tinah, Abu Dhabi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Dugong Watch — Seagrass Habitat Risk Mapping</dc:title>
  <dc:subject>PptxGenJS Presentation</dc:subject>
  <dc:creator>Dugong Watch Team</dc:creator>
  <cp:lastModifiedBy>Dugong Watch Team</cp:lastModifiedBy>
  <cp:revision>1</cp:revision>
  <dcterms:created xsi:type="dcterms:W3CDTF">2026-07-05T11:34:16Z</dcterms:created>
  <dcterms:modified xsi:type="dcterms:W3CDTF">2026-07-05T11:34:16Z</dcterms:modified>
</cp:coreProperties>
</file>